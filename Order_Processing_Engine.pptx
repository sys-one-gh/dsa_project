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822960" y="640080"/>
            <a:ext cx="8229600" cy="457200"/>
          </a:xfrm>
          <a:prstGeom prst="rect">
            <a:avLst/>
          </a:prstGeom>
          <a:noFill/>
        </p:spPr>
        <p:txBody>
          <a:bodyPr wrap="square">
            <a:spAutoFit/>
          </a:bodyPr>
          <a:lstStyle/>
          <a:p>
            <a:r>
              <a:rPr sz="1200" b="1" i="0">
                <a:solidFill>
                  <a:srgbClr val="C6860A"/>
                </a:solidFill>
                <a:latin typeface="Consolas"/>
              </a:rPr>
              <a:t>●  </a:t>
            </a:r>
            <a:r>
              <a:rPr sz="1100" b="0" i="0" spc="120">
                <a:solidFill>
                  <a:srgbClr val="8A9187"/>
                </a:solidFill>
                <a:latin typeface="Consolas"/>
              </a:rPr>
              <a:t>ITE 5231 — DATA STRUCTURES &amp; ALGORITHMS · PROJECT 2</a:t>
            </a:r>
          </a:p>
        </p:txBody>
      </p:sp>
      <p:sp>
        <p:nvSpPr>
          <p:cNvPr id="3" name="TextBox 2"/>
          <p:cNvSpPr txBox="1"/>
          <p:nvPr/>
        </p:nvSpPr>
        <p:spPr>
          <a:xfrm>
            <a:off x="777240" y="1371600"/>
            <a:ext cx="9875520" cy="2011680"/>
          </a:xfrm>
          <a:prstGeom prst="rect">
            <a:avLst/>
          </a:prstGeom>
          <a:noFill/>
        </p:spPr>
        <p:txBody>
          <a:bodyPr wrap="square">
            <a:spAutoFit/>
          </a:bodyPr>
          <a:lstStyle/>
          <a:p>
            <a:pPr algn="l">
              <a:lnSpc>
                <a:spcPct val="102000"/>
              </a:lnSpc>
              <a:spcAft>
                <a:spcPts val="600"/>
              </a:spcAft>
            </a:pPr>
            <a:r>
              <a:rPr sz="4400" b="1" i="0">
                <a:solidFill>
                  <a:srgbClr val="1B2420"/>
                </a:solidFill>
                <a:latin typeface="Georgia"/>
              </a:rPr>
              <a:t>E-Commerce Inventory &amp; Order Processing Engine</a:t>
            </a:r>
          </a:p>
        </p:txBody>
      </p:sp>
      <p:sp>
        <p:nvSpPr>
          <p:cNvPr id="4" name="TextBox 3"/>
          <p:cNvSpPr txBox="1"/>
          <p:nvPr/>
        </p:nvSpPr>
        <p:spPr>
          <a:xfrm>
            <a:off x="822960" y="3246120"/>
            <a:ext cx="8412480" cy="914400"/>
          </a:xfrm>
          <a:prstGeom prst="rect">
            <a:avLst/>
          </a:prstGeom>
          <a:noFill/>
        </p:spPr>
        <p:txBody>
          <a:bodyPr wrap="square">
            <a:spAutoFit/>
          </a:bodyPr>
          <a:lstStyle/>
          <a:p>
            <a:pPr algn="l">
              <a:lnSpc>
                <a:spcPct val="130000"/>
              </a:lnSpc>
              <a:spcAft>
                <a:spcPts val="600"/>
              </a:spcAft>
            </a:pPr>
            <a:r>
              <a:rPr sz="1500" b="0" i="0">
                <a:solidFill>
                  <a:srgbClr val="5A6459"/>
                </a:solidFill>
                <a:latin typeface="Verdana"/>
              </a:rPr>
              <a:t>A console-based Python backend that puts six data structures and four GoF design patterns to work inside one connected system — catalogue → cart → checkout → fulfilment.</a:t>
            </a:r>
          </a:p>
        </p:txBody>
      </p:sp>
      <p:sp>
        <p:nvSpPr>
          <p:cNvPr id="5" name="Rounded Rectangle 4"/>
          <p:cNvSpPr/>
          <p:nvPr/>
        </p:nvSpPr>
        <p:spPr>
          <a:xfrm>
            <a:off x="822960" y="4297680"/>
            <a:ext cx="1554480" cy="502920"/>
          </a:xfrm>
          <a:prstGeom prst="roundRect">
            <a:avLst>
              <a:gd name="adj" fmla="val 1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lIns="381000"/>
          <a:lstStyle/>
          <a:p>
            <a:pPr algn="l">
              <a:spcAft>
                <a:spcPts val="600"/>
              </a:spcAft>
            </a:pPr>
            <a:r>
              <a:rPr sz="1300" b="1" i="0">
                <a:solidFill>
                  <a:srgbClr val="1B2420"/>
                </a:solidFill>
                <a:latin typeface="Consolas"/>
              </a:rPr>
              <a:t>Parth</a:t>
            </a:r>
          </a:p>
        </p:txBody>
      </p:sp>
      <p:sp>
        <p:nvSpPr>
          <p:cNvPr id="6" name="Oval 5"/>
          <p:cNvSpPr/>
          <p:nvPr/>
        </p:nvSpPr>
        <p:spPr>
          <a:xfrm>
            <a:off x="987552" y="4480560"/>
            <a:ext cx="118872" cy="118872"/>
          </a:xfrm>
          <a:prstGeom prst="ellipse">
            <a:avLst/>
          </a:prstGeom>
          <a:solidFill>
            <a:srgbClr val="2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06040" y="4297680"/>
            <a:ext cx="1554480" cy="502920"/>
          </a:xfrm>
          <a:prstGeom prst="roundRect">
            <a:avLst>
              <a:gd name="adj" fmla="val 1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lIns="381000"/>
          <a:lstStyle/>
          <a:p>
            <a:pPr algn="l">
              <a:spcAft>
                <a:spcPts val="600"/>
              </a:spcAft>
            </a:pPr>
            <a:r>
              <a:rPr sz="1300" b="1" i="0">
                <a:solidFill>
                  <a:srgbClr val="1B2420"/>
                </a:solidFill>
                <a:latin typeface="Consolas"/>
              </a:rPr>
              <a:t>Dhruv</a:t>
            </a:r>
          </a:p>
        </p:txBody>
      </p:sp>
      <p:sp>
        <p:nvSpPr>
          <p:cNvPr id="8" name="Oval 7"/>
          <p:cNvSpPr/>
          <p:nvPr/>
        </p:nvSpPr>
        <p:spPr>
          <a:xfrm>
            <a:off x="2770632" y="4480560"/>
            <a:ext cx="118872" cy="118872"/>
          </a:xfrm>
          <a:prstGeom prst="ellipse">
            <a:avLst/>
          </a:prstGeom>
          <a:solidFill>
            <a:srgbClr val="AD57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4297680"/>
            <a:ext cx="1554480" cy="502920"/>
          </a:xfrm>
          <a:prstGeom prst="roundRect">
            <a:avLst>
              <a:gd name="adj" fmla="val 1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lIns="381000"/>
          <a:lstStyle/>
          <a:p>
            <a:pPr algn="l">
              <a:spcAft>
                <a:spcPts val="600"/>
              </a:spcAft>
            </a:pPr>
            <a:r>
              <a:rPr sz="1300" b="1" i="0">
                <a:solidFill>
                  <a:srgbClr val="1B2420"/>
                </a:solidFill>
                <a:latin typeface="Consolas"/>
              </a:rPr>
              <a:t>Sahil</a:t>
            </a:r>
          </a:p>
        </p:txBody>
      </p:sp>
      <p:sp>
        <p:nvSpPr>
          <p:cNvPr id="10" name="Oval 9"/>
          <p:cNvSpPr/>
          <p:nvPr/>
        </p:nvSpPr>
        <p:spPr>
          <a:xfrm>
            <a:off x="4553712" y="4480560"/>
            <a:ext cx="118872" cy="118872"/>
          </a:xfrm>
          <a:prstGeom prst="ellipse">
            <a:avLst/>
          </a:prstGeom>
          <a:solidFill>
            <a:srgbClr val="C68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5989320"/>
            <a:ext cx="10515600"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126480"/>
            <a:ext cx="10515600" cy="457200"/>
          </a:xfrm>
          <a:prstGeom prst="rect">
            <a:avLst/>
          </a:prstGeom>
          <a:noFill/>
        </p:spPr>
        <p:txBody>
          <a:bodyPr wrap="square">
            <a:spAutoFit/>
          </a:bodyPr>
          <a:lstStyle/>
          <a:p>
            <a:r>
              <a:rPr sz="1000" b="0" i="0" spc="60">
                <a:solidFill>
                  <a:srgbClr val="8A9187"/>
                </a:solidFill>
                <a:latin typeface="Consolas"/>
              </a:rPr>
              <a:t>TEAM OF 3 · EQUAL SPLIT</a:t>
            </a:r>
            <a:r>
              <a:rPr sz="1000" b="0" i="0" spc="60">
                <a:solidFill>
                  <a:srgbClr val="8A9187"/>
                </a:solidFill>
                <a:latin typeface="Consolas"/>
              </a:rPr>
              <a:t>     PYTHON 3 · UNITTEST</a:t>
            </a:r>
            <a:r>
              <a:rPr sz="1000" b="0" i="0" spc="60">
                <a:solidFill>
                  <a:srgbClr val="8A9187"/>
                </a:solidFill>
                <a:latin typeface="Consolas"/>
              </a:rPr>
              <a:t>     18 AUG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100" b="1" i="0">
                <a:solidFill>
                  <a:srgbClr val="C6860A"/>
                </a:solidFill>
                <a:latin typeface="Consolas"/>
              </a:rPr>
              <a:t>●  </a:t>
            </a:r>
            <a:r>
              <a:rPr sz="1050" b="0" i="0" spc="120">
                <a:solidFill>
                  <a:srgbClr val="8A9187"/>
                </a:solidFill>
                <a:latin typeface="Consolas"/>
              </a:rPr>
              <a:t>01 · THE BRIEF</a:t>
            </a:r>
          </a:p>
        </p:txBody>
      </p:sp>
      <p:sp>
        <p:nvSpPr>
          <p:cNvPr id="3" name="TextBox 2"/>
          <p:cNvSpPr txBox="1"/>
          <p:nvPr/>
        </p:nvSpPr>
        <p:spPr>
          <a:xfrm>
            <a:off x="10241280" y="320040"/>
            <a:ext cx="1280160" cy="365760"/>
          </a:xfrm>
          <a:prstGeom prst="rect">
            <a:avLst/>
          </a:prstGeom>
          <a:noFill/>
        </p:spPr>
        <p:txBody>
          <a:bodyPr wrap="square">
            <a:spAutoFit/>
          </a:bodyPr>
          <a:lstStyle/>
          <a:p>
            <a:pPr algn="r">
              <a:spcAft>
                <a:spcPts val="600"/>
              </a:spcAft>
            </a:pPr>
            <a:r>
              <a:rPr sz="1050" b="0" i="0" spc="80">
                <a:solidFill>
                  <a:srgbClr val="8A9187"/>
                </a:solidFill>
                <a:latin typeface="Consolas"/>
              </a:rPr>
              <a:t>02 / 12</a:t>
            </a:r>
          </a:p>
        </p:txBody>
      </p:sp>
      <p:sp>
        <p:nvSpPr>
          <p:cNvPr id="4" name="Rectangle 3"/>
          <p:cNvSpPr/>
          <p:nvPr/>
        </p:nvSpPr>
        <p:spPr>
          <a:xfrm>
            <a:off x="640080" y="713232"/>
            <a:ext cx="10908792"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9601200" cy="1005840"/>
          </a:xfrm>
          <a:prstGeom prst="rect">
            <a:avLst/>
          </a:prstGeom>
          <a:noFill/>
        </p:spPr>
        <p:txBody>
          <a:bodyPr wrap="square">
            <a:spAutoFit/>
          </a:bodyPr>
          <a:lstStyle/>
          <a:p>
            <a:pPr algn="l">
              <a:lnSpc>
                <a:spcPct val="105000"/>
              </a:lnSpc>
              <a:spcAft>
                <a:spcPts val="600"/>
              </a:spcAft>
            </a:pPr>
            <a:r>
              <a:rPr sz="3000" b="1" i="0">
                <a:solidFill>
                  <a:srgbClr val="1B2420"/>
                </a:solidFill>
                <a:latin typeface="Georgia"/>
              </a:rPr>
              <a:t>What we built, and why it's structured this way</a:t>
            </a:r>
          </a:p>
        </p:txBody>
      </p:sp>
      <p:sp>
        <p:nvSpPr>
          <p:cNvPr id="6" name="TextBox 5"/>
          <p:cNvSpPr txBox="1"/>
          <p:nvPr/>
        </p:nvSpPr>
        <p:spPr>
          <a:xfrm>
            <a:off x="640080" y="1691640"/>
            <a:ext cx="10241280" cy="1371600"/>
          </a:xfrm>
          <a:prstGeom prst="rect">
            <a:avLst/>
          </a:prstGeom>
          <a:noFill/>
        </p:spPr>
        <p:txBody>
          <a:bodyPr wrap="square">
            <a:spAutoFit/>
          </a:bodyPr>
          <a:lstStyle/>
          <a:p>
            <a:pPr algn="l">
              <a:lnSpc>
                <a:spcPct val="130000"/>
              </a:lnSpc>
              <a:spcAft>
                <a:spcPts val="600"/>
              </a:spcAft>
            </a:pPr>
            <a:r>
              <a:rPr sz="1350" b="0" i="0">
                <a:solidFill>
                  <a:srgbClr val="5A6459"/>
                </a:solidFill>
                <a:latin typeface="Verdana"/>
              </a:rPr>
              <a:t>Not a real store — no UI, no persistence, no payment processing. Every state lives in memory and resets on exit. The goal was to prove correct, meaningful use of six data structures and four GoF patterns inside one connected system, not six or four disconnected demos. Each structure was picked because it's the natural fit for the operation it performs.</a:t>
            </a:r>
          </a:p>
        </p:txBody>
      </p:sp>
      <p:sp>
        <p:nvSpPr>
          <p:cNvPr id="7" name="Rounded Rectangle 6"/>
          <p:cNvSpPr/>
          <p:nvPr/>
        </p:nvSpPr>
        <p:spPr>
          <a:xfrm>
            <a:off x="640080" y="3429000"/>
            <a:ext cx="2542032" cy="1554480"/>
          </a:xfrm>
          <a:prstGeom prst="roundRect">
            <a:avLst>
              <a:gd name="adj" fmla="val 6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3593592"/>
            <a:ext cx="2176272" cy="1234440"/>
          </a:xfrm>
          <a:prstGeom prst="rect">
            <a:avLst/>
          </a:prstGeom>
          <a:noFill/>
        </p:spPr>
        <p:txBody>
          <a:bodyPr wrap="square">
            <a:spAutoFit/>
          </a:bodyPr>
          <a:lstStyle/>
          <a:p>
            <a:pPr algn="l">
              <a:spcAft>
                <a:spcPts val="600"/>
              </a:spcAft>
            </a:pPr>
            <a:r>
              <a:rPr sz="900" b="1" i="0" spc="80">
                <a:solidFill>
                  <a:srgbClr val="C6860A"/>
                </a:solidFill>
                <a:latin typeface="Consolas"/>
              </a:rPr>
              <a:t>STAGE 01</a:t>
            </a:r>
          </a:p>
          <a:p>
            <a:pPr algn="l">
              <a:spcAft>
                <a:spcPts val="600"/>
              </a:spcAft>
            </a:pPr>
            <a:r>
              <a:rPr sz="1700" b="1" i="0">
                <a:solidFill>
                  <a:srgbClr val="1B2420"/>
                </a:solidFill>
                <a:latin typeface="Georgia"/>
              </a:rPr>
              <a:t>Catalogue</a:t>
            </a:r>
          </a:p>
          <a:p>
            <a:pPr algn="l">
              <a:lnSpc>
                <a:spcPct val="120000"/>
              </a:lnSpc>
              <a:spcAft>
                <a:spcPts val="600"/>
              </a:spcAft>
            </a:pPr>
            <a:r>
              <a:rPr sz="1100" b="0" i="0">
                <a:solidFill>
                  <a:srgbClr val="5A6459"/>
                </a:solidFill>
                <a:latin typeface="Verdana"/>
              </a:rPr>
              <a:t>SKU lookup, tag search, price browsing.</a:t>
            </a:r>
          </a:p>
        </p:txBody>
      </p:sp>
      <p:sp>
        <p:nvSpPr>
          <p:cNvPr id="9" name="Rounded Rectangle 8"/>
          <p:cNvSpPr/>
          <p:nvPr/>
        </p:nvSpPr>
        <p:spPr>
          <a:xfrm>
            <a:off x="3273552" y="3429000"/>
            <a:ext cx="2542032" cy="1554480"/>
          </a:xfrm>
          <a:prstGeom prst="roundRect">
            <a:avLst>
              <a:gd name="adj" fmla="val 6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3593592"/>
            <a:ext cx="2176272" cy="1234440"/>
          </a:xfrm>
          <a:prstGeom prst="rect">
            <a:avLst/>
          </a:prstGeom>
          <a:noFill/>
        </p:spPr>
        <p:txBody>
          <a:bodyPr wrap="square">
            <a:spAutoFit/>
          </a:bodyPr>
          <a:lstStyle/>
          <a:p>
            <a:pPr algn="l">
              <a:spcAft>
                <a:spcPts val="600"/>
              </a:spcAft>
            </a:pPr>
            <a:r>
              <a:rPr sz="900" b="1" i="0" spc="80">
                <a:solidFill>
                  <a:srgbClr val="C6860A"/>
                </a:solidFill>
                <a:latin typeface="Consolas"/>
              </a:rPr>
              <a:t>STAGE 02</a:t>
            </a:r>
          </a:p>
          <a:p>
            <a:pPr algn="l">
              <a:spcAft>
                <a:spcPts val="600"/>
              </a:spcAft>
            </a:pPr>
            <a:r>
              <a:rPr sz="1700" b="1" i="0">
                <a:solidFill>
                  <a:srgbClr val="1B2420"/>
                </a:solidFill>
                <a:latin typeface="Georgia"/>
              </a:rPr>
              <a:t>Cart</a:t>
            </a:r>
          </a:p>
          <a:p>
            <a:pPr algn="l">
              <a:lnSpc>
                <a:spcPct val="120000"/>
              </a:lnSpc>
              <a:spcAft>
                <a:spcPts val="600"/>
              </a:spcAft>
            </a:pPr>
            <a:r>
              <a:rPr sz="1100" b="0" i="0">
                <a:solidFill>
                  <a:srgbClr val="5A6459"/>
                </a:solidFill>
                <a:latin typeface="Verdana"/>
              </a:rPr>
              <a:t>Add / remove / update, with undo &amp; redo.</a:t>
            </a:r>
          </a:p>
        </p:txBody>
      </p:sp>
      <p:sp>
        <p:nvSpPr>
          <p:cNvPr id="11" name="Rounded Rectangle 10"/>
          <p:cNvSpPr/>
          <p:nvPr/>
        </p:nvSpPr>
        <p:spPr>
          <a:xfrm>
            <a:off x="5907024" y="3429000"/>
            <a:ext cx="2542032" cy="1554480"/>
          </a:xfrm>
          <a:prstGeom prst="roundRect">
            <a:avLst>
              <a:gd name="adj" fmla="val 6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08192" y="3593592"/>
            <a:ext cx="2176272" cy="1234440"/>
          </a:xfrm>
          <a:prstGeom prst="rect">
            <a:avLst/>
          </a:prstGeom>
          <a:noFill/>
        </p:spPr>
        <p:txBody>
          <a:bodyPr wrap="square">
            <a:spAutoFit/>
          </a:bodyPr>
          <a:lstStyle/>
          <a:p>
            <a:pPr algn="l">
              <a:spcAft>
                <a:spcPts val="600"/>
              </a:spcAft>
            </a:pPr>
            <a:r>
              <a:rPr sz="900" b="1" i="0" spc="80">
                <a:solidFill>
                  <a:srgbClr val="C6860A"/>
                </a:solidFill>
                <a:latin typeface="Consolas"/>
              </a:rPr>
              <a:t>STAGE 03</a:t>
            </a:r>
          </a:p>
          <a:p>
            <a:pPr algn="l">
              <a:spcAft>
                <a:spcPts val="600"/>
              </a:spcAft>
            </a:pPr>
            <a:r>
              <a:rPr sz="1700" b="1" i="0">
                <a:solidFill>
                  <a:srgbClr val="1B2420"/>
                </a:solidFill>
                <a:latin typeface="Georgia"/>
              </a:rPr>
              <a:t>Checkout</a:t>
            </a:r>
          </a:p>
          <a:p>
            <a:pPr algn="l">
              <a:lnSpc>
                <a:spcPct val="120000"/>
              </a:lnSpc>
              <a:spcAft>
                <a:spcPts val="600"/>
              </a:spcAft>
            </a:pPr>
            <a:r>
              <a:rPr sz="1100" b="0" i="0">
                <a:solidFill>
                  <a:srgbClr val="5A6459"/>
                </a:solidFill>
                <a:latin typeface="Verdana"/>
              </a:rPr>
              <a:t>Discounts stack, shipping is quoted.</a:t>
            </a:r>
          </a:p>
        </p:txBody>
      </p:sp>
      <p:sp>
        <p:nvSpPr>
          <p:cNvPr id="13" name="Rounded Rectangle 12"/>
          <p:cNvSpPr/>
          <p:nvPr/>
        </p:nvSpPr>
        <p:spPr>
          <a:xfrm>
            <a:off x="8540496" y="3429000"/>
            <a:ext cx="2542032" cy="1554480"/>
          </a:xfrm>
          <a:prstGeom prst="roundRect">
            <a:avLst>
              <a:gd name="adj" fmla="val 6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3593592"/>
            <a:ext cx="2176272" cy="1234440"/>
          </a:xfrm>
          <a:prstGeom prst="rect">
            <a:avLst/>
          </a:prstGeom>
          <a:noFill/>
        </p:spPr>
        <p:txBody>
          <a:bodyPr wrap="square">
            <a:spAutoFit/>
          </a:bodyPr>
          <a:lstStyle/>
          <a:p>
            <a:pPr algn="l">
              <a:spcAft>
                <a:spcPts val="600"/>
              </a:spcAft>
            </a:pPr>
            <a:r>
              <a:rPr sz="900" b="1" i="0" spc="80">
                <a:solidFill>
                  <a:srgbClr val="C6860A"/>
                </a:solidFill>
                <a:latin typeface="Consolas"/>
              </a:rPr>
              <a:t>STAGE 04</a:t>
            </a:r>
          </a:p>
          <a:p>
            <a:pPr algn="l">
              <a:spcAft>
                <a:spcPts val="600"/>
              </a:spcAft>
            </a:pPr>
            <a:r>
              <a:rPr sz="1700" b="1" i="0">
                <a:solidFill>
                  <a:srgbClr val="1B2420"/>
                </a:solidFill>
                <a:latin typeface="Georgia"/>
              </a:rPr>
              <a:t>Fulfilment</a:t>
            </a:r>
          </a:p>
          <a:p>
            <a:pPr algn="l">
              <a:lnSpc>
                <a:spcPct val="120000"/>
              </a:lnSpc>
              <a:spcAft>
                <a:spcPts val="600"/>
              </a:spcAft>
            </a:pPr>
            <a:r>
              <a:rPr sz="1100" b="0" i="0">
                <a:solidFill>
                  <a:srgbClr val="5A6459"/>
                </a:solidFill>
                <a:latin typeface="Verdana"/>
              </a:rPr>
              <a:t>Orders queue and process in FIFO order.</a:t>
            </a:r>
          </a:p>
        </p:txBody>
      </p:sp>
      <p:sp>
        <p:nvSpPr>
          <p:cNvPr id="15" name="TextBox 14"/>
          <p:cNvSpPr txBox="1"/>
          <p:nvPr/>
        </p:nvSpPr>
        <p:spPr>
          <a:xfrm>
            <a:off x="10241280" y="6446520"/>
            <a:ext cx="1280160" cy="320040"/>
          </a:xfrm>
          <a:prstGeom prst="rect">
            <a:avLst/>
          </a:prstGeom>
          <a:noFill/>
        </p:spPr>
        <p:txBody>
          <a:bodyPr wrap="square">
            <a:spAutoFit/>
          </a:bodyPr>
          <a:lstStyle/>
          <a:p>
            <a:pPr algn="r">
              <a:spcAft>
                <a:spcPts val="600"/>
              </a:spcAft>
            </a:pPr>
            <a:r>
              <a:rPr sz="900" b="0" i="0">
                <a:solidFill>
                  <a:srgbClr val="8A9187"/>
                </a:solidFill>
                <a:latin typeface="Consolas"/>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100" b="1" i="0">
                <a:solidFill>
                  <a:srgbClr val="C6860A"/>
                </a:solidFill>
                <a:latin typeface="Consolas"/>
              </a:rPr>
              <a:t>●  </a:t>
            </a:r>
            <a:r>
              <a:rPr sz="1050" b="0" i="0" spc="120">
                <a:solidFill>
                  <a:srgbClr val="8A9187"/>
                </a:solidFill>
                <a:latin typeface="Consolas"/>
              </a:rPr>
              <a:t>02 · FOUNDATIONS</a:t>
            </a:r>
          </a:p>
        </p:txBody>
      </p:sp>
      <p:sp>
        <p:nvSpPr>
          <p:cNvPr id="3" name="TextBox 2"/>
          <p:cNvSpPr txBox="1"/>
          <p:nvPr/>
        </p:nvSpPr>
        <p:spPr>
          <a:xfrm>
            <a:off x="10241280" y="320040"/>
            <a:ext cx="1280160" cy="365760"/>
          </a:xfrm>
          <a:prstGeom prst="rect">
            <a:avLst/>
          </a:prstGeom>
          <a:noFill/>
        </p:spPr>
        <p:txBody>
          <a:bodyPr wrap="square">
            <a:spAutoFit/>
          </a:bodyPr>
          <a:lstStyle/>
          <a:p>
            <a:pPr algn="r">
              <a:spcAft>
                <a:spcPts val="600"/>
              </a:spcAft>
            </a:pPr>
            <a:r>
              <a:rPr sz="1050" b="0" i="0" spc="80">
                <a:solidFill>
                  <a:srgbClr val="8A9187"/>
                </a:solidFill>
                <a:latin typeface="Consolas"/>
              </a:rPr>
              <a:t>03 / 12</a:t>
            </a:r>
          </a:p>
        </p:txBody>
      </p:sp>
      <p:sp>
        <p:nvSpPr>
          <p:cNvPr id="4" name="Rectangle 3"/>
          <p:cNvSpPr/>
          <p:nvPr/>
        </p:nvSpPr>
        <p:spPr>
          <a:xfrm>
            <a:off x="640080" y="713232"/>
            <a:ext cx="10908792"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9601200" cy="1005840"/>
          </a:xfrm>
          <a:prstGeom prst="rect">
            <a:avLst/>
          </a:prstGeom>
          <a:noFill/>
        </p:spPr>
        <p:txBody>
          <a:bodyPr wrap="square">
            <a:spAutoFit/>
          </a:bodyPr>
          <a:lstStyle/>
          <a:p>
            <a:pPr algn="l">
              <a:lnSpc>
                <a:spcPct val="105000"/>
              </a:lnSpc>
              <a:spcAft>
                <a:spcPts val="600"/>
              </a:spcAft>
            </a:pPr>
            <a:r>
              <a:rPr sz="3000" b="1" i="0">
                <a:solidFill>
                  <a:srgbClr val="1B2420"/>
                </a:solidFill>
                <a:latin typeface="Georgia"/>
              </a:rPr>
              <a:t>Six data structures, six real jobs</a:t>
            </a:r>
          </a:p>
        </p:txBody>
      </p:sp>
      <p:sp>
        <p:nvSpPr>
          <p:cNvPr id="6" name="Rounded Rectangle 5"/>
          <p:cNvSpPr/>
          <p:nvPr/>
        </p:nvSpPr>
        <p:spPr>
          <a:xfrm>
            <a:off x="640080" y="1691640"/>
            <a:ext cx="3502152" cy="1874519"/>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56232"/>
            <a:ext cx="1828800" cy="274320"/>
          </a:xfrm>
          <a:prstGeom prst="roundRect">
            <a:avLst>
              <a:gd name="adj" fmla="val 50000"/>
            </a:avLst>
          </a:prstGeom>
          <a:solidFill>
            <a:srgbClr val="DCEAE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12700" bIns="12700"/>
          <a:lstStyle/>
          <a:p>
            <a:pPr algn="ctr">
              <a:spcAft>
                <a:spcPts val="600"/>
              </a:spcAft>
            </a:pPr>
            <a:r>
              <a:rPr sz="950" b="1" i="0" spc="60">
                <a:solidFill>
                  <a:srgbClr val="276B4C"/>
                </a:solidFill>
                <a:latin typeface="Consolas"/>
              </a:rPr>
              <a:t>Dictionary</a:t>
            </a:r>
          </a:p>
        </p:txBody>
      </p:sp>
      <p:sp>
        <p:nvSpPr>
          <p:cNvPr id="8" name="TextBox 7"/>
          <p:cNvSpPr txBox="1"/>
          <p:nvPr/>
        </p:nvSpPr>
        <p:spPr>
          <a:xfrm>
            <a:off x="822960" y="2258568"/>
            <a:ext cx="3136392" cy="1188719"/>
          </a:xfrm>
          <a:prstGeom prst="rect">
            <a:avLst/>
          </a:prstGeom>
          <a:noFill/>
        </p:spPr>
        <p:txBody>
          <a:bodyPr wrap="square">
            <a:spAutoFit/>
          </a:bodyPr>
          <a:lstStyle/>
          <a:p>
            <a:pPr algn="l">
              <a:spcAft>
                <a:spcPts val="600"/>
              </a:spcAft>
            </a:pPr>
            <a:r>
              <a:rPr sz="1500" b="1" i="0">
                <a:solidFill>
                  <a:srgbClr val="1B2420"/>
                </a:solidFill>
                <a:latin typeface="Georgia"/>
              </a:rPr>
              <a:t>Catalogue.products</a:t>
            </a:r>
          </a:p>
          <a:p>
            <a:pPr algn="l">
              <a:lnSpc>
                <a:spcPct val="120000"/>
              </a:lnSpc>
              <a:spcAft>
                <a:spcPts val="600"/>
              </a:spcAft>
            </a:pPr>
            <a:r>
              <a:rPr sz="1050" b="0" i="0">
                <a:solidFill>
                  <a:srgbClr val="5A6459"/>
                </a:solidFill>
                <a:latin typeface="Verdana"/>
              </a:rPr>
              <a:t>SKU → Product. O(1) lookup for every CRUD operation.</a:t>
            </a:r>
          </a:p>
          <a:p>
            <a:pPr algn="l">
              <a:spcAft>
                <a:spcPts val="600"/>
              </a:spcAft>
            </a:pPr>
            <a:r>
              <a:rPr sz="950" b="0" i="0">
                <a:solidFill>
                  <a:srgbClr val="8A9187"/>
                </a:solidFill>
                <a:latin typeface="Consolas"/>
              </a:rPr>
              <a:t>Dict[str, Product]</a:t>
            </a:r>
          </a:p>
        </p:txBody>
      </p:sp>
      <p:sp>
        <p:nvSpPr>
          <p:cNvPr id="9" name="Rounded Rectangle 8"/>
          <p:cNvSpPr/>
          <p:nvPr/>
        </p:nvSpPr>
        <p:spPr>
          <a:xfrm>
            <a:off x="4251960" y="1691640"/>
            <a:ext cx="3502152" cy="1874519"/>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34840" y="1856232"/>
            <a:ext cx="1828800" cy="274320"/>
          </a:xfrm>
          <a:prstGeom prst="roundRect">
            <a:avLst>
              <a:gd name="adj" fmla="val 50000"/>
            </a:avLst>
          </a:prstGeom>
          <a:solidFill>
            <a:srgbClr val="DCEAE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12700" bIns="12700"/>
          <a:lstStyle/>
          <a:p>
            <a:pPr algn="ctr">
              <a:spcAft>
                <a:spcPts val="600"/>
              </a:spcAft>
            </a:pPr>
            <a:r>
              <a:rPr sz="950" b="1" i="0" spc="60">
                <a:solidFill>
                  <a:srgbClr val="276B4C"/>
                </a:solidFill>
                <a:latin typeface="Consolas"/>
              </a:rPr>
              <a:t>HashSet</a:t>
            </a:r>
          </a:p>
        </p:txBody>
      </p:sp>
      <p:sp>
        <p:nvSpPr>
          <p:cNvPr id="11" name="TextBox 10"/>
          <p:cNvSpPr txBox="1"/>
          <p:nvPr/>
        </p:nvSpPr>
        <p:spPr>
          <a:xfrm>
            <a:off x="4434840" y="2258568"/>
            <a:ext cx="3136392" cy="1188719"/>
          </a:xfrm>
          <a:prstGeom prst="rect">
            <a:avLst/>
          </a:prstGeom>
          <a:noFill/>
        </p:spPr>
        <p:txBody>
          <a:bodyPr wrap="square">
            <a:spAutoFit/>
          </a:bodyPr>
          <a:lstStyle/>
          <a:p>
            <a:pPr algn="l">
              <a:spcAft>
                <a:spcPts val="600"/>
              </a:spcAft>
            </a:pPr>
            <a:r>
              <a:rPr sz="1500" b="1" i="0">
                <a:solidFill>
                  <a:srgbClr val="1B2420"/>
                </a:solidFill>
                <a:latin typeface="Georgia"/>
              </a:rPr>
              <a:t>Product.tags</a:t>
            </a:r>
          </a:p>
          <a:p>
            <a:pPr algn="l">
              <a:lnSpc>
                <a:spcPct val="120000"/>
              </a:lnSpc>
              <a:spcAft>
                <a:spcPts val="600"/>
              </a:spcAft>
            </a:pPr>
            <a:r>
              <a:rPr sz="1050" b="0" i="0">
                <a:solidFill>
                  <a:srgbClr val="5A6459"/>
                </a:solidFill>
                <a:latin typeface="Verdana"/>
              </a:rPr>
              <a:t>Fast membership + set math for multi-tag filtering.</a:t>
            </a:r>
          </a:p>
          <a:p>
            <a:pPr algn="l">
              <a:spcAft>
                <a:spcPts val="600"/>
              </a:spcAft>
            </a:pPr>
            <a:r>
              <a:rPr sz="950" b="0" i="0">
                <a:solidFill>
                  <a:srgbClr val="8A9187"/>
                </a:solidFill>
                <a:latin typeface="Consolas"/>
              </a:rPr>
              <a:t>issubset() / &amp; / |</a:t>
            </a:r>
          </a:p>
        </p:txBody>
      </p:sp>
      <p:sp>
        <p:nvSpPr>
          <p:cNvPr id="12" name="Rounded Rectangle 11"/>
          <p:cNvSpPr/>
          <p:nvPr/>
        </p:nvSpPr>
        <p:spPr>
          <a:xfrm>
            <a:off x="7863840" y="1691640"/>
            <a:ext cx="3502152" cy="1874519"/>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0" y="1856232"/>
            <a:ext cx="1828800" cy="274320"/>
          </a:xfrm>
          <a:prstGeom prst="roundRect">
            <a:avLst>
              <a:gd name="adj" fmla="val 50000"/>
            </a:avLst>
          </a:prstGeom>
          <a:solidFill>
            <a:srgbClr val="DCEAE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12700" bIns="12700"/>
          <a:lstStyle/>
          <a:p>
            <a:pPr algn="ctr">
              <a:spcAft>
                <a:spcPts val="600"/>
              </a:spcAft>
            </a:pPr>
            <a:r>
              <a:rPr sz="950" b="1" i="0" spc="60">
                <a:solidFill>
                  <a:srgbClr val="276B4C"/>
                </a:solidFill>
                <a:latin typeface="Consolas"/>
              </a:rPr>
              <a:t>Custom linked list</a:t>
            </a:r>
          </a:p>
        </p:txBody>
      </p:sp>
      <p:sp>
        <p:nvSpPr>
          <p:cNvPr id="14" name="TextBox 13"/>
          <p:cNvSpPr txBox="1"/>
          <p:nvPr/>
        </p:nvSpPr>
        <p:spPr>
          <a:xfrm>
            <a:off x="8046720" y="2258568"/>
            <a:ext cx="3136392" cy="1188719"/>
          </a:xfrm>
          <a:prstGeom prst="rect">
            <a:avLst/>
          </a:prstGeom>
          <a:noFill/>
        </p:spPr>
        <p:txBody>
          <a:bodyPr wrap="square">
            <a:spAutoFit/>
          </a:bodyPr>
          <a:lstStyle/>
          <a:p>
            <a:pPr algn="l">
              <a:spcAft>
                <a:spcPts val="600"/>
              </a:spcAft>
            </a:pPr>
            <a:r>
              <a:rPr sz="1500" b="1" i="0">
                <a:solidFill>
                  <a:srgbClr val="1B2420"/>
                </a:solidFill>
                <a:latin typeface="Georgia"/>
              </a:rPr>
              <a:t>ShoppingCartList</a:t>
            </a:r>
          </a:p>
          <a:p>
            <a:pPr algn="l">
              <a:lnSpc>
                <a:spcPct val="120000"/>
              </a:lnSpc>
              <a:spcAft>
                <a:spcPts val="600"/>
              </a:spcAft>
            </a:pPr>
            <a:r>
              <a:rPr sz="1050" b="0" i="0">
                <a:solidFill>
                  <a:srgbClr val="5A6459"/>
                </a:solidFill>
                <a:latin typeface="Verdana"/>
              </a:rPr>
              <a:t>Cart items as nodes — add/remove is a pointer op.</a:t>
            </a:r>
          </a:p>
          <a:p>
            <a:pPr algn="l">
              <a:spcAft>
                <a:spcPts val="600"/>
              </a:spcAft>
            </a:pPr>
            <a:r>
              <a:rPr sz="950" b="0" i="0">
                <a:solidFill>
                  <a:srgbClr val="8A9187"/>
                </a:solidFill>
                <a:latin typeface="Consolas"/>
              </a:rPr>
              <a:t>CartItem(product, qty, next)</a:t>
            </a:r>
          </a:p>
        </p:txBody>
      </p:sp>
      <p:sp>
        <p:nvSpPr>
          <p:cNvPr id="15" name="Rounded Rectangle 14"/>
          <p:cNvSpPr/>
          <p:nvPr/>
        </p:nvSpPr>
        <p:spPr>
          <a:xfrm>
            <a:off x="640080" y="3730751"/>
            <a:ext cx="3502152" cy="1874519"/>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3895343"/>
            <a:ext cx="1828800" cy="274320"/>
          </a:xfrm>
          <a:prstGeom prst="roundRect">
            <a:avLst>
              <a:gd name="adj" fmla="val 50000"/>
            </a:avLst>
          </a:prstGeom>
          <a:solidFill>
            <a:srgbClr val="DCEAE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12700" bIns="12700"/>
          <a:lstStyle/>
          <a:p>
            <a:pPr algn="ctr">
              <a:spcAft>
                <a:spcPts val="600"/>
              </a:spcAft>
            </a:pPr>
            <a:r>
              <a:rPr sz="950" b="1" i="0" spc="60">
                <a:solidFill>
                  <a:srgbClr val="276B4C"/>
                </a:solidFill>
                <a:latin typeface="Consolas"/>
              </a:rPr>
              <a:t>Sorted linked list</a:t>
            </a:r>
          </a:p>
        </p:txBody>
      </p:sp>
      <p:sp>
        <p:nvSpPr>
          <p:cNvPr id="17" name="TextBox 16"/>
          <p:cNvSpPr txBox="1"/>
          <p:nvPr/>
        </p:nvSpPr>
        <p:spPr>
          <a:xfrm>
            <a:off x="822960" y="4297679"/>
            <a:ext cx="3136392" cy="1188719"/>
          </a:xfrm>
          <a:prstGeom prst="rect">
            <a:avLst/>
          </a:prstGeom>
          <a:noFill/>
        </p:spPr>
        <p:txBody>
          <a:bodyPr wrap="square">
            <a:spAutoFit/>
          </a:bodyPr>
          <a:lstStyle/>
          <a:p>
            <a:pPr algn="l">
              <a:spcAft>
                <a:spcPts val="600"/>
              </a:spcAft>
            </a:pPr>
            <a:r>
              <a:rPr sz="1500" b="1" i="0">
                <a:solidFill>
                  <a:srgbClr val="1B2420"/>
                </a:solidFill>
                <a:latin typeface="Georgia"/>
              </a:rPr>
              <a:t>SortedLinkedList</a:t>
            </a:r>
          </a:p>
          <a:p>
            <a:pPr algn="l">
              <a:lnSpc>
                <a:spcPct val="120000"/>
              </a:lnSpc>
              <a:spcAft>
                <a:spcPts val="600"/>
              </a:spcAft>
            </a:pPr>
            <a:r>
              <a:rPr sz="1050" b="0" i="0">
                <a:solidFill>
                  <a:srgbClr val="5A6459"/>
                </a:solidFill>
                <a:latin typeface="Verdana"/>
              </a:rPr>
              <a:t>"Browse by price" always sorted — no re-sort on read.</a:t>
            </a:r>
          </a:p>
          <a:p>
            <a:pPr algn="l">
              <a:spcAft>
                <a:spcPts val="600"/>
              </a:spcAft>
            </a:pPr>
            <a:r>
              <a:rPr sz="950" b="0" i="0">
                <a:solidFill>
                  <a:srgbClr val="8A9187"/>
                </a:solidFill>
                <a:latin typeface="Consolas"/>
              </a:rPr>
              <a:t>insert() walks once, O(n)</a:t>
            </a:r>
          </a:p>
        </p:txBody>
      </p:sp>
      <p:sp>
        <p:nvSpPr>
          <p:cNvPr id="18" name="Rounded Rectangle 17"/>
          <p:cNvSpPr/>
          <p:nvPr/>
        </p:nvSpPr>
        <p:spPr>
          <a:xfrm>
            <a:off x="4251960" y="3730751"/>
            <a:ext cx="3502152" cy="1874519"/>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34840" y="3895343"/>
            <a:ext cx="1828800" cy="274320"/>
          </a:xfrm>
          <a:prstGeom prst="roundRect">
            <a:avLst>
              <a:gd name="adj" fmla="val 50000"/>
            </a:avLst>
          </a:prstGeom>
          <a:solidFill>
            <a:srgbClr val="DCEAE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12700" bIns="12700"/>
          <a:lstStyle/>
          <a:p>
            <a:pPr algn="ctr">
              <a:spcAft>
                <a:spcPts val="600"/>
              </a:spcAft>
            </a:pPr>
            <a:r>
              <a:rPr sz="950" b="1" i="0" spc="60">
                <a:solidFill>
                  <a:srgbClr val="276B4C"/>
                </a:solidFill>
                <a:latin typeface="Consolas"/>
              </a:rPr>
              <a:t>Stack ×2</a:t>
            </a:r>
          </a:p>
        </p:txBody>
      </p:sp>
      <p:sp>
        <p:nvSpPr>
          <p:cNvPr id="20" name="TextBox 19"/>
          <p:cNvSpPr txBox="1"/>
          <p:nvPr/>
        </p:nvSpPr>
        <p:spPr>
          <a:xfrm>
            <a:off x="4434840" y="4297679"/>
            <a:ext cx="3136392" cy="1188719"/>
          </a:xfrm>
          <a:prstGeom prst="rect">
            <a:avLst/>
          </a:prstGeom>
          <a:noFill/>
        </p:spPr>
        <p:txBody>
          <a:bodyPr wrap="square">
            <a:spAutoFit/>
          </a:bodyPr>
          <a:lstStyle/>
          <a:p>
            <a:pPr algn="l">
              <a:spcAft>
                <a:spcPts val="600"/>
              </a:spcAft>
            </a:pPr>
            <a:r>
              <a:rPr sz="1500" b="1" i="0">
                <a:solidFill>
                  <a:srgbClr val="1B2420"/>
                </a:solidFill>
                <a:latin typeface="Georgia"/>
              </a:rPr>
              <a:t>undo_stack / redo_stack</a:t>
            </a:r>
          </a:p>
          <a:p>
            <a:pPr algn="l">
              <a:lnSpc>
                <a:spcPct val="120000"/>
              </a:lnSpc>
              <a:spcAft>
                <a:spcPts val="600"/>
              </a:spcAft>
            </a:pPr>
            <a:r>
              <a:rPr sz="1050" b="0" i="0">
                <a:solidFill>
                  <a:srgbClr val="5A6459"/>
                </a:solidFill>
                <a:latin typeface="Verdana"/>
              </a:rPr>
              <a:t>LIFO order is exactly what undo/redo needs.</a:t>
            </a:r>
          </a:p>
          <a:p>
            <a:pPr algn="l">
              <a:spcAft>
                <a:spcPts val="600"/>
              </a:spcAft>
            </a:pPr>
            <a:r>
              <a:rPr sz="950" b="0" i="0">
                <a:solidFill>
                  <a:srgbClr val="8A9187"/>
                </a:solidFill>
                <a:latin typeface="Consolas"/>
              </a:rPr>
              <a:t>append()=push, pop()=pop</a:t>
            </a:r>
          </a:p>
        </p:txBody>
      </p:sp>
      <p:sp>
        <p:nvSpPr>
          <p:cNvPr id="21" name="Rounded Rectangle 20"/>
          <p:cNvSpPr/>
          <p:nvPr/>
        </p:nvSpPr>
        <p:spPr>
          <a:xfrm>
            <a:off x="7863840" y="3730751"/>
            <a:ext cx="3502152" cy="1874519"/>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46720" y="3895343"/>
            <a:ext cx="1828800" cy="274320"/>
          </a:xfrm>
          <a:prstGeom prst="roundRect">
            <a:avLst>
              <a:gd name="adj" fmla="val 50000"/>
            </a:avLst>
          </a:prstGeom>
          <a:solidFill>
            <a:srgbClr val="DCEAE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12700" bIns="12700"/>
          <a:lstStyle/>
          <a:p>
            <a:pPr algn="ctr">
              <a:spcAft>
                <a:spcPts val="600"/>
              </a:spcAft>
            </a:pPr>
            <a:r>
              <a:rPr sz="950" b="1" i="0" spc="60">
                <a:solidFill>
                  <a:srgbClr val="276B4C"/>
                </a:solidFill>
                <a:latin typeface="Consolas"/>
              </a:rPr>
              <a:t>Queue (FIFO)</a:t>
            </a:r>
          </a:p>
        </p:txBody>
      </p:sp>
      <p:sp>
        <p:nvSpPr>
          <p:cNvPr id="23" name="TextBox 22"/>
          <p:cNvSpPr txBox="1"/>
          <p:nvPr/>
        </p:nvSpPr>
        <p:spPr>
          <a:xfrm>
            <a:off x="8046720" y="4297679"/>
            <a:ext cx="3136392" cy="1188719"/>
          </a:xfrm>
          <a:prstGeom prst="rect">
            <a:avLst/>
          </a:prstGeom>
          <a:noFill/>
        </p:spPr>
        <p:txBody>
          <a:bodyPr wrap="square">
            <a:spAutoFit/>
          </a:bodyPr>
          <a:lstStyle/>
          <a:p>
            <a:pPr algn="l">
              <a:spcAft>
                <a:spcPts val="600"/>
              </a:spcAft>
            </a:pPr>
            <a:r>
              <a:rPr sz="1500" b="1" i="0">
                <a:solidFill>
                  <a:srgbClr val="1B2420"/>
                </a:solidFill>
                <a:latin typeface="Georgia"/>
              </a:rPr>
              <a:t>order_queue</a:t>
            </a:r>
          </a:p>
          <a:p>
            <a:pPr algn="l">
              <a:lnSpc>
                <a:spcPct val="120000"/>
              </a:lnSpc>
              <a:spcAft>
                <a:spcPts val="600"/>
              </a:spcAft>
            </a:pPr>
            <a:r>
              <a:rPr sz="1050" b="0" i="0">
                <a:solidFill>
                  <a:srgbClr val="5A6459"/>
                </a:solidFill>
                <a:latin typeface="Verdana"/>
              </a:rPr>
              <a:t>Orders are fulfilled in the order they were placed.</a:t>
            </a:r>
          </a:p>
          <a:p>
            <a:pPr algn="l">
              <a:spcAft>
                <a:spcPts val="600"/>
              </a:spcAft>
            </a:pPr>
            <a:r>
              <a:rPr sz="950" b="0" i="0">
                <a:solidFill>
                  <a:srgbClr val="8A9187"/>
                </a:solidFill>
                <a:latin typeface="Consolas"/>
              </a:rPr>
              <a:t>collections.deque</a:t>
            </a:r>
          </a:p>
        </p:txBody>
      </p:sp>
      <p:sp>
        <p:nvSpPr>
          <p:cNvPr id="24" name="TextBox 23"/>
          <p:cNvSpPr txBox="1"/>
          <p:nvPr/>
        </p:nvSpPr>
        <p:spPr>
          <a:xfrm>
            <a:off x="10241280" y="6446520"/>
            <a:ext cx="1280160" cy="320040"/>
          </a:xfrm>
          <a:prstGeom prst="rect">
            <a:avLst/>
          </a:prstGeom>
          <a:noFill/>
        </p:spPr>
        <p:txBody>
          <a:bodyPr wrap="square">
            <a:spAutoFit/>
          </a:bodyPr>
          <a:lstStyle/>
          <a:p>
            <a:pPr algn="r">
              <a:spcAft>
                <a:spcPts val="600"/>
              </a:spcAft>
            </a:pPr>
            <a:r>
              <a:rPr sz="900" b="0" i="0">
                <a:solidFill>
                  <a:srgbClr val="8A9187"/>
                </a:solidFill>
                <a:latin typeface="Consolas"/>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100" b="1" i="0">
                <a:solidFill>
                  <a:srgbClr val="C6860A"/>
                </a:solidFill>
                <a:latin typeface="Consolas"/>
              </a:rPr>
              <a:t>●  </a:t>
            </a:r>
            <a:r>
              <a:rPr sz="1050" b="0" i="0" spc="120">
                <a:solidFill>
                  <a:srgbClr val="8A9187"/>
                </a:solidFill>
                <a:latin typeface="Consolas"/>
              </a:rPr>
              <a:t>03 · FOUNDATIONS</a:t>
            </a:r>
          </a:p>
        </p:txBody>
      </p:sp>
      <p:sp>
        <p:nvSpPr>
          <p:cNvPr id="3" name="TextBox 2"/>
          <p:cNvSpPr txBox="1"/>
          <p:nvPr/>
        </p:nvSpPr>
        <p:spPr>
          <a:xfrm>
            <a:off x="10241280" y="320040"/>
            <a:ext cx="1280160" cy="365760"/>
          </a:xfrm>
          <a:prstGeom prst="rect">
            <a:avLst/>
          </a:prstGeom>
          <a:noFill/>
        </p:spPr>
        <p:txBody>
          <a:bodyPr wrap="square">
            <a:spAutoFit/>
          </a:bodyPr>
          <a:lstStyle/>
          <a:p>
            <a:pPr algn="r">
              <a:spcAft>
                <a:spcPts val="600"/>
              </a:spcAft>
            </a:pPr>
            <a:r>
              <a:rPr sz="1050" b="0" i="0" spc="80">
                <a:solidFill>
                  <a:srgbClr val="8A9187"/>
                </a:solidFill>
                <a:latin typeface="Consolas"/>
              </a:rPr>
              <a:t>04 / 12</a:t>
            </a:r>
          </a:p>
        </p:txBody>
      </p:sp>
      <p:sp>
        <p:nvSpPr>
          <p:cNvPr id="4" name="Rectangle 3"/>
          <p:cNvSpPr/>
          <p:nvPr/>
        </p:nvSpPr>
        <p:spPr>
          <a:xfrm>
            <a:off x="640080" y="713232"/>
            <a:ext cx="10908792"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9601200" cy="1005840"/>
          </a:xfrm>
          <a:prstGeom prst="rect">
            <a:avLst/>
          </a:prstGeom>
          <a:noFill/>
        </p:spPr>
        <p:txBody>
          <a:bodyPr wrap="square">
            <a:spAutoFit/>
          </a:bodyPr>
          <a:lstStyle/>
          <a:p>
            <a:pPr algn="l">
              <a:lnSpc>
                <a:spcPct val="105000"/>
              </a:lnSpc>
              <a:spcAft>
                <a:spcPts val="600"/>
              </a:spcAft>
            </a:pPr>
            <a:r>
              <a:rPr sz="3000" b="1" i="0">
                <a:solidFill>
                  <a:srgbClr val="1B2420"/>
                </a:solidFill>
                <a:latin typeface="Georgia"/>
              </a:rPr>
              <a:t>Four GoF patterns, four flexibility problems</a:t>
            </a:r>
          </a:p>
        </p:txBody>
      </p:sp>
      <p:sp>
        <p:nvSpPr>
          <p:cNvPr id="6" name="Rounded Rectangle 5"/>
          <p:cNvSpPr/>
          <p:nvPr/>
        </p:nvSpPr>
        <p:spPr>
          <a:xfrm>
            <a:off x="640080" y="1828800"/>
            <a:ext cx="2578608" cy="2743200"/>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2011680"/>
            <a:ext cx="2194560" cy="274320"/>
          </a:xfrm>
          <a:prstGeom prst="roundRect">
            <a:avLst>
              <a:gd name="adj" fmla="val 50000"/>
            </a:avLst>
          </a:prstGeom>
          <a:solidFill>
            <a:srgbClr val="F0DFD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12700" bIns="12700"/>
          <a:lstStyle/>
          <a:p>
            <a:pPr algn="ctr">
              <a:spcAft>
                <a:spcPts val="600"/>
              </a:spcAft>
            </a:pPr>
            <a:r>
              <a:rPr sz="950" b="1" i="0" spc="60">
                <a:solidFill>
                  <a:srgbClr val="AD5732"/>
                </a:solidFill>
                <a:latin typeface="Consolas"/>
              </a:rPr>
              <a:t>Factory Method</a:t>
            </a:r>
          </a:p>
        </p:txBody>
      </p:sp>
      <p:sp>
        <p:nvSpPr>
          <p:cNvPr id="8" name="TextBox 7"/>
          <p:cNvSpPr txBox="1"/>
          <p:nvPr/>
        </p:nvSpPr>
        <p:spPr>
          <a:xfrm>
            <a:off x="804672" y="2514600"/>
            <a:ext cx="2249424" cy="1874520"/>
          </a:xfrm>
          <a:prstGeom prst="rect">
            <a:avLst/>
          </a:prstGeom>
          <a:noFill/>
        </p:spPr>
        <p:txBody>
          <a:bodyPr wrap="square">
            <a:spAutoFit/>
          </a:bodyPr>
          <a:lstStyle/>
          <a:p>
            <a:pPr algn="l">
              <a:lnSpc>
                <a:spcPct val="110000"/>
              </a:lnSpc>
              <a:spcAft>
                <a:spcPts val="600"/>
              </a:spcAft>
            </a:pPr>
            <a:r>
              <a:rPr sz="1500" b="1" i="0">
                <a:solidFill>
                  <a:srgbClr val="1B2420"/>
                </a:solidFill>
                <a:latin typeface="Georgia"/>
              </a:rPr>
              <a:t>ProductFactory</a:t>
            </a:r>
          </a:p>
          <a:p>
            <a:pPr algn="l">
              <a:lnSpc>
                <a:spcPct val="125000"/>
              </a:lnSpc>
              <a:spcAft>
                <a:spcPts val="600"/>
              </a:spcAft>
            </a:pPr>
            <a:r>
              <a:rPr sz="1100" b="0" i="0">
                <a:solidFill>
                  <a:srgbClr val="5A6459"/>
                </a:solidFill>
                <a:latin typeface="Verdana"/>
              </a:rPr>
              <a:t>Hides which Product subclass gets instantiated from a type string.</a:t>
            </a:r>
          </a:p>
          <a:p>
            <a:pPr algn="l">
              <a:spcAft>
                <a:spcPts val="600"/>
              </a:spcAft>
            </a:pPr>
            <a:r>
              <a:rPr sz="950" b="0" i="0">
                <a:solidFill>
                  <a:srgbClr val="8A9187"/>
                </a:solidFill>
                <a:latin typeface="Consolas"/>
              </a:rPr>
              <a:t>models.py</a:t>
            </a:r>
          </a:p>
        </p:txBody>
      </p:sp>
      <p:sp>
        <p:nvSpPr>
          <p:cNvPr id="9" name="Rounded Rectangle 8"/>
          <p:cNvSpPr/>
          <p:nvPr/>
        </p:nvSpPr>
        <p:spPr>
          <a:xfrm>
            <a:off x="3355848" y="1828800"/>
            <a:ext cx="2578608" cy="2743200"/>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20440" y="2011680"/>
            <a:ext cx="2194560" cy="274320"/>
          </a:xfrm>
          <a:prstGeom prst="roundRect">
            <a:avLst>
              <a:gd name="adj" fmla="val 50000"/>
            </a:avLst>
          </a:prstGeom>
          <a:solidFill>
            <a:srgbClr val="F0DFD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12700" bIns="12700"/>
          <a:lstStyle/>
          <a:p>
            <a:pPr algn="ctr">
              <a:spcAft>
                <a:spcPts val="600"/>
              </a:spcAft>
            </a:pPr>
            <a:r>
              <a:rPr sz="950" b="1" i="0" spc="60">
                <a:solidFill>
                  <a:srgbClr val="AD5732"/>
                </a:solidFill>
                <a:latin typeface="Consolas"/>
              </a:rPr>
              <a:t>Decorator</a:t>
            </a:r>
          </a:p>
        </p:txBody>
      </p:sp>
      <p:sp>
        <p:nvSpPr>
          <p:cNvPr id="11" name="TextBox 10"/>
          <p:cNvSpPr txBox="1"/>
          <p:nvPr/>
        </p:nvSpPr>
        <p:spPr>
          <a:xfrm>
            <a:off x="3520440" y="2514600"/>
            <a:ext cx="2249424" cy="1874520"/>
          </a:xfrm>
          <a:prstGeom prst="rect">
            <a:avLst/>
          </a:prstGeom>
          <a:noFill/>
        </p:spPr>
        <p:txBody>
          <a:bodyPr wrap="square">
            <a:spAutoFit/>
          </a:bodyPr>
          <a:lstStyle/>
          <a:p>
            <a:pPr algn="l">
              <a:lnSpc>
                <a:spcPct val="110000"/>
              </a:lnSpc>
              <a:spcAft>
                <a:spcPts val="600"/>
              </a:spcAft>
            </a:pPr>
            <a:r>
              <a:rPr sz="1500" b="1" i="0">
                <a:solidFill>
                  <a:srgbClr val="1B2420"/>
                </a:solidFill>
                <a:latin typeface="Georgia"/>
              </a:rPr>
              <a:t>IOrder / DiscountDecorator</a:t>
            </a:r>
          </a:p>
          <a:p>
            <a:pPr algn="l">
              <a:lnSpc>
                <a:spcPct val="125000"/>
              </a:lnSpc>
              <a:spcAft>
                <a:spcPts val="600"/>
              </a:spcAft>
            </a:pPr>
            <a:r>
              <a:rPr sz="1100" b="0" i="0">
                <a:solidFill>
                  <a:srgbClr val="5A6459"/>
                </a:solidFill>
                <a:latin typeface="Verdana"/>
              </a:rPr>
              <a:t>Lets discounts stack in any combination, at runtime.</a:t>
            </a:r>
          </a:p>
          <a:p>
            <a:pPr algn="l">
              <a:spcAft>
                <a:spcPts val="600"/>
              </a:spcAft>
            </a:pPr>
            <a:r>
              <a:rPr sz="950" b="0" i="0">
                <a:solidFill>
                  <a:srgbClr val="8A9187"/>
                </a:solidFill>
                <a:latin typeface="Consolas"/>
              </a:rPr>
              <a:t>discounts.py</a:t>
            </a:r>
          </a:p>
        </p:txBody>
      </p:sp>
      <p:sp>
        <p:nvSpPr>
          <p:cNvPr id="12" name="Rounded Rectangle 11"/>
          <p:cNvSpPr/>
          <p:nvPr/>
        </p:nvSpPr>
        <p:spPr>
          <a:xfrm>
            <a:off x="6071616" y="1828800"/>
            <a:ext cx="2578608" cy="2743200"/>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36208" y="2011680"/>
            <a:ext cx="2194560" cy="274320"/>
          </a:xfrm>
          <a:prstGeom prst="roundRect">
            <a:avLst>
              <a:gd name="adj" fmla="val 50000"/>
            </a:avLst>
          </a:prstGeom>
          <a:solidFill>
            <a:srgbClr val="F0DFD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12700" bIns="12700"/>
          <a:lstStyle/>
          <a:p>
            <a:pPr algn="ctr">
              <a:spcAft>
                <a:spcPts val="600"/>
              </a:spcAft>
            </a:pPr>
            <a:r>
              <a:rPr sz="950" b="1" i="0" spc="60">
                <a:solidFill>
                  <a:srgbClr val="AD5732"/>
                </a:solidFill>
                <a:latin typeface="Consolas"/>
              </a:rPr>
              <a:t>Command</a:t>
            </a:r>
          </a:p>
        </p:txBody>
      </p:sp>
      <p:sp>
        <p:nvSpPr>
          <p:cNvPr id="14" name="TextBox 13"/>
          <p:cNvSpPr txBox="1"/>
          <p:nvPr/>
        </p:nvSpPr>
        <p:spPr>
          <a:xfrm>
            <a:off x="6236208" y="2514600"/>
            <a:ext cx="2249424" cy="1874520"/>
          </a:xfrm>
          <a:prstGeom prst="rect">
            <a:avLst/>
          </a:prstGeom>
          <a:noFill/>
        </p:spPr>
        <p:txBody>
          <a:bodyPr wrap="square">
            <a:spAutoFit/>
          </a:bodyPr>
          <a:lstStyle/>
          <a:p>
            <a:pPr algn="l">
              <a:lnSpc>
                <a:spcPct val="110000"/>
              </a:lnSpc>
              <a:spcAft>
                <a:spcPts val="600"/>
              </a:spcAft>
            </a:pPr>
            <a:r>
              <a:rPr sz="1500" b="1" i="0">
                <a:solidFill>
                  <a:srgbClr val="1B2420"/>
                </a:solidFill>
                <a:latin typeface="Georgia"/>
              </a:rPr>
              <a:t>ICartCommand</a:t>
            </a:r>
          </a:p>
          <a:p>
            <a:pPr algn="l">
              <a:lnSpc>
                <a:spcPct val="125000"/>
              </a:lnSpc>
              <a:spcAft>
                <a:spcPts val="600"/>
              </a:spcAft>
            </a:pPr>
            <a:r>
              <a:rPr sz="1100" b="0" i="0">
                <a:solidFill>
                  <a:srgbClr val="5A6459"/>
                </a:solidFill>
                <a:latin typeface="Verdana"/>
              </a:rPr>
              <a:t>Turns cart edits into objects, so any edit can be undone.</a:t>
            </a:r>
          </a:p>
          <a:p>
            <a:pPr algn="l">
              <a:spcAft>
                <a:spcPts val="600"/>
              </a:spcAft>
            </a:pPr>
            <a:r>
              <a:rPr sz="950" b="0" i="0">
                <a:solidFill>
                  <a:srgbClr val="8A9187"/>
                </a:solidFill>
                <a:latin typeface="Consolas"/>
              </a:rPr>
              <a:t>cart.py</a:t>
            </a:r>
          </a:p>
        </p:txBody>
      </p:sp>
      <p:sp>
        <p:nvSpPr>
          <p:cNvPr id="15" name="Rounded Rectangle 14"/>
          <p:cNvSpPr/>
          <p:nvPr/>
        </p:nvSpPr>
        <p:spPr>
          <a:xfrm>
            <a:off x="8787384" y="1828800"/>
            <a:ext cx="2578608" cy="2743200"/>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51976" y="2011680"/>
            <a:ext cx="2194560" cy="274320"/>
          </a:xfrm>
          <a:prstGeom prst="roundRect">
            <a:avLst>
              <a:gd name="adj" fmla="val 50000"/>
            </a:avLst>
          </a:prstGeom>
          <a:solidFill>
            <a:srgbClr val="F0DFD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12700" bIns="12700"/>
          <a:lstStyle/>
          <a:p>
            <a:pPr algn="ctr">
              <a:spcAft>
                <a:spcPts val="600"/>
              </a:spcAft>
            </a:pPr>
            <a:r>
              <a:rPr sz="950" b="1" i="0" spc="60">
                <a:solidFill>
                  <a:srgbClr val="AD5732"/>
                </a:solidFill>
                <a:latin typeface="Consolas"/>
              </a:rPr>
              <a:t>Facade</a:t>
            </a:r>
          </a:p>
        </p:txBody>
      </p:sp>
      <p:sp>
        <p:nvSpPr>
          <p:cNvPr id="17" name="TextBox 16"/>
          <p:cNvSpPr txBox="1"/>
          <p:nvPr/>
        </p:nvSpPr>
        <p:spPr>
          <a:xfrm>
            <a:off x="8951976" y="2514600"/>
            <a:ext cx="2249424" cy="1874520"/>
          </a:xfrm>
          <a:prstGeom prst="rect">
            <a:avLst/>
          </a:prstGeom>
          <a:noFill/>
        </p:spPr>
        <p:txBody>
          <a:bodyPr wrap="square">
            <a:spAutoFit/>
          </a:bodyPr>
          <a:lstStyle/>
          <a:p>
            <a:pPr algn="l">
              <a:lnSpc>
                <a:spcPct val="110000"/>
              </a:lnSpc>
              <a:spcAft>
                <a:spcPts val="600"/>
              </a:spcAft>
            </a:pPr>
            <a:r>
              <a:rPr sz="1500" b="1" i="0">
                <a:solidFill>
                  <a:srgbClr val="1B2420"/>
                </a:solidFill>
                <a:latin typeface="Georgia"/>
              </a:rPr>
              <a:t>ShippingFacade</a:t>
            </a:r>
          </a:p>
          <a:p>
            <a:pPr algn="l">
              <a:lnSpc>
                <a:spcPct val="125000"/>
              </a:lnSpc>
              <a:spcAft>
                <a:spcPts val="600"/>
              </a:spcAft>
            </a:pPr>
            <a:r>
              <a:rPr sz="1100" b="0" i="0">
                <a:solidFill>
                  <a:srgbClr val="5A6459"/>
                </a:solidFill>
                <a:latin typeface="Verdana"/>
              </a:rPr>
              <a:t>Hides a 3-step shipping calculation behind one call.</a:t>
            </a:r>
          </a:p>
          <a:p>
            <a:pPr algn="l">
              <a:spcAft>
                <a:spcPts val="600"/>
              </a:spcAft>
            </a:pPr>
            <a:r>
              <a:rPr sz="950" b="0" i="0">
                <a:solidFill>
                  <a:srgbClr val="8A9187"/>
                </a:solidFill>
                <a:latin typeface="Consolas"/>
              </a:rPr>
              <a:t>shipping.py</a:t>
            </a:r>
          </a:p>
        </p:txBody>
      </p:sp>
      <p:sp>
        <p:nvSpPr>
          <p:cNvPr id="18" name="TextBox 17"/>
          <p:cNvSpPr txBox="1"/>
          <p:nvPr/>
        </p:nvSpPr>
        <p:spPr>
          <a:xfrm>
            <a:off x="10241280" y="6446520"/>
            <a:ext cx="1280160" cy="320040"/>
          </a:xfrm>
          <a:prstGeom prst="rect">
            <a:avLst/>
          </a:prstGeom>
          <a:noFill/>
        </p:spPr>
        <p:txBody>
          <a:bodyPr wrap="square">
            <a:spAutoFit/>
          </a:bodyPr>
          <a:lstStyle/>
          <a:p>
            <a:pPr algn="r">
              <a:spcAft>
                <a:spcPts val="600"/>
              </a:spcAft>
            </a:pPr>
            <a:r>
              <a:rPr sz="900" b="0" i="0">
                <a:solidFill>
                  <a:srgbClr val="8A9187"/>
                </a:solidFill>
                <a:latin typeface="Consolas"/>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100" b="1" i="0">
                <a:solidFill>
                  <a:srgbClr val="C6860A"/>
                </a:solidFill>
                <a:latin typeface="Consolas"/>
              </a:rPr>
              <a:t>●  </a:t>
            </a:r>
            <a:r>
              <a:rPr sz="1050" b="0" i="0" spc="120">
                <a:solidFill>
                  <a:srgbClr val="8A9187"/>
                </a:solidFill>
                <a:latin typeface="Consolas"/>
              </a:rPr>
              <a:t>04 · TEAM SPLIT</a:t>
            </a:r>
          </a:p>
        </p:txBody>
      </p:sp>
      <p:sp>
        <p:nvSpPr>
          <p:cNvPr id="3" name="TextBox 2"/>
          <p:cNvSpPr txBox="1"/>
          <p:nvPr/>
        </p:nvSpPr>
        <p:spPr>
          <a:xfrm>
            <a:off x="10241280" y="320040"/>
            <a:ext cx="1280160" cy="365760"/>
          </a:xfrm>
          <a:prstGeom prst="rect">
            <a:avLst/>
          </a:prstGeom>
          <a:noFill/>
        </p:spPr>
        <p:txBody>
          <a:bodyPr wrap="square">
            <a:spAutoFit/>
          </a:bodyPr>
          <a:lstStyle/>
          <a:p>
            <a:pPr algn="r">
              <a:spcAft>
                <a:spcPts val="600"/>
              </a:spcAft>
            </a:pPr>
            <a:r>
              <a:rPr sz="1050" b="0" i="0" spc="80">
                <a:solidFill>
                  <a:srgbClr val="8A9187"/>
                </a:solidFill>
                <a:latin typeface="Consolas"/>
              </a:rPr>
              <a:t>05 / 12</a:t>
            </a:r>
          </a:p>
        </p:txBody>
      </p:sp>
      <p:sp>
        <p:nvSpPr>
          <p:cNvPr id="4" name="Rectangle 3"/>
          <p:cNvSpPr/>
          <p:nvPr/>
        </p:nvSpPr>
        <p:spPr>
          <a:xfrm>
            <a:off x="640080" y="713232"/>
            <a:ext cx="10908792"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9601200" cy="1005840"/>
          </a:xfrm>
          <a:prstGeom prst="rect">
            <a:avLst/>
          </a:prstGeom>
          <a:noFill/>
        </p:spPr>
        <p:txBody>
          <a:bodyPr wrap="square">
            <a:spAutoFit/>
          </a:bodyPr>
          <a:lstStyle/>
          <a:p>
            <a:pPr algn="l">
              <a:lnSpc>
                <a:spcPct val="105000"/>
              </a:lnSpc>
              <a:spcAft>
                <a:spcPts val="600"/>
              </a:spcAft>
            </a:pPr>
            <a:r>
              <a:rPr sz="2600" b="1" i="0">
                <a:solidFill>
                  <a:srgbClr val="1B2420"/>
                </a:solidFill>
                <a:latin typeface="Georgia"/>
              </a:rPr>
              <a:t>Ten building blocks, divided as evenly as three-way math allows</a:t>
            </a:r>
          </a:p>
        </p:txBody>
      </p:sp>
      <p:sp>
        <p:nvSpPr>
          <p:cNvPr id="6" name="TextBox 5"/>
          <p:cNvSpPr txBox="1"/>
          <p:nvPr/>
        </p:nvSpPr>
        <p:spPr>
          <a:xfrm>
            <a:off x="640080" y="1600200"/>
            <a:ext cx="10424160" cy="822960"/>
          </a:xfrm>
          <a:prstGeom prst="rect">
            <a:avLst/>
          </a:prstGeom>
          <a:noFill/>
        </p:spPr>
        <p:txBody>
          <a:bodyPr wrap="square">
            <a:spAutoFit/>
          </a:bodyPr>
          <a:lstStyle/>
          <a:p>
            <a:pPr algn="l">
              <a:lnSpc>
                <a:spcPct val="125000"/>
              </a:lnSpc>
              <a:spcAft>
                <a:spcPts val="600"/>
              </a:spcAft>
            </a:pPr>
            <a:r>
              <a:rPr sz="1300" b="0" i="0">
                <a:solidFill>
                  <a:srgbClr val="5A6459"/>
                </a:solidFill>
                <a:latin typeface="Verdana"/>
              </a:rPr>
              <a:t>6 data structures + 4 patterns = 10 pieces. Split three ways that's 2 data structures each, and patterns as close to even as an integer split permits.</a:t>
            </a:r>
          </a:p>
        </p:txBody>
      </p:sp>
      <p:sp>
        <p:nvSpPr>
          <p:cNvPr id="7" name="TextBox 6"/>
          <p:cNvSpPr txBox="1"/>
          <p:nvPr/>
        </p:nvSpPr>
        <p:spPr>
          <a:xfrm>
            <a:off x="640080" y="2514600"/>
            <a:ext cx="1828800" cy="502920"/>
          </a:xfrm>
          <a:prstGeom prst="rect">
            <a:avLst/>
          </a:prstGeom>
          <a:noFill/>
        </p:spPr>
        <p:txBody>
          <a:bodyPr wrap="square">
            <a:spAutoFit/>
          </a:bodyPr>
          <a:lstStyle/>
          <a:p>
            <a:pPr algn="l">
              <a:spcAft>
                <a:spcPts val="600"/>
              </a:spcAft>
            </a:pPr>
            <a:r>
              <a:rPr sz="1000" b="1" i="0" spc="60">
                <a:solidFill>
                  <a:srgbClr val="8A9187"/>
                </a:solidFill>
                <a:latin typeface="Consolas"/>
              </a:rPr>
              <a:t>Owner</a:t>
            </a:r>
          </a:p>
        </p:txBody>
      </p:sp>
      <p:sp>
        <p:nvSpPr>
          <p:cNvPr id="8" name="TextBox 7"/>
          <p:cNvSpPr txBox="1"/>
          <p:nvPr/>
        </p:nvSpPr>
        <p:spPr>
          <a:xfrm>
            <a:off x="2468880" y="2514600"/>
            <a:ext cx="4023360" cy="502920"/>
          </a:xfrm>
          <a:prstGeom prst="rect">
            <a:avLst/>
          </a:prstGeom>
          <a:noFill/>
        </p:spPr>
        <p:txBody>
          <a:bodyPr wrap="square">
            <a:spAutoFit/>
          </a:bodyPr>
          <a:lstStyle/>
          <a:p>
            <a:pPr algn="l">
              <a:spcAft>
                <a:spcPts val="600"/>
              </a:spcAft>
            </a:pPr>
            <a:r>
              <a:rPr sz="1000" b="1" i="0" spc="60">
                <a:solidFill>
                  <a:srgbClr val="8A9187"/>
                </a:solidFill>
                <a:latin typeface="Consolas"/>
              </a:rPr>
              <a:t>Data structures (2 each)</a:t>
            </a:r>
          </a:p>
        </p:txBody>
      </p:sp>
      <p:sp>
        <p:nvSpPr>
          <p:cNvPr id="9" name="TextBox 8"/>
          <p:cNvSpPr txBox="1"/>
          <p:nvPr/>
        </p:nvSpPr>
        <p:spPr>
          <a:xfrm>
            <a:off x="6492240" y="2514600"/>
            <a:ext cx="2926080" cy="502920"/>
          </a:xfrm>
          <a:prstGeom prst="rect">
            <a:avLst/>
          </a:prstGeom>
          <a:noFill/>
        </p:spPr>
        <p:txBody>
          <a:bodyPr wrap="square">
            <a:spAutoFit/>
          </a:bodyPr>
          <a:lstStyle/>
          <a:p>
            <a:pPr algn="l">
              <a:spcAft>
                <a:spcPts val="600"/>
              </a:spcAft>
            </a:pPr>
            <a:r>
              <a:rPr sz="1000" b="1" i="0" spc="60">
                <a:solidFill>
                  <a:srgbClr val="8A9187"/>
                </a:solidFill>
                <a:latin typeface="Consolas"/>
              </a:rPr>
              <a:t>Design pattern(s)</a:t>
            </a:r>
          </a:p>
        </p:txBody>
      </p:sp>
      <p:sp>
        <p:nvSpPr>
          <p:cNvPr id="10" name="TextBox 9"/>
          <p:cNvSpPr txBox="1"/>
          <p:nvPr/>
        </p:nvSpPr>
        <p:spPr>
          <a:xfrm>
            <a:off x="9418320" y="2514600"/>
            <a:ext cx="1463040" cy="502920"/>
          </a:xfrm>
          <a:prstGeom prst="rect">
            <a:avLst/>
          </a:prstGeom>
          <a:noFill/>
        </p:spPr>
        <p:txBody>
          <a:bodyPr wrap="square">
            <a:spAutoFit/>
          </a:bodyPr>
          <a:lstStyle/>
          <a:p>
            <a:pPr algn="l">
              <a:spcAft>
                <a:spcPts val="600"/>
              </a:spcAft>
            </a:pPr>
            <a:r>
              <a:rPr sz="1000" b="1" i="0" spc="60">
                <a:solidFill>
                  <a:srgbClr val="8A9187"/>
                </a:solidFill>
                <a:latin typeface="Consolas"/>
              </a:rPr>
              <a:t>Pieces</a:t>
            </a:r>
          </a:p>
        </p:txBody>
      </p:sp>
      <p:sp>
        <p:nvSpPr>
          <p:cNvPr id="11" name="Rectangle 10"/>
          <p:cNvSpPr/>
          <p:nvPr/>
        </p:nvSpPr>
        <p:spPr>
          <a:xfrm>
            <a:off x="640080" y="2992120"/>
            <a:ext cx="10241280" cy="15875"/>
          </a:xfrm>
          <a:prstGeom prst="rect">
            <a:avLst/>
          </a:prstGeom>
          <a:solidFill>
            <a:srgbClr val="1B2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3178048"/>
            <a:ext cx="128016" cy="128016"/>
          </a:xfrm>
          <a:prstGeom prst="ellipse">
            <a:avLst/>
          </a:prstGeom>
          <a:solidFill>
            <a:srgbClr val="2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068320"/>
            <a:ext cx="1554480" cy="640080"/>
          </a:xfrm>
          <a:prstGeom prst="rect">
            <a:avLst/>
          </a:prstGeom>
          <a:noFill/>
        </p:spPr>
        <p:txBody>
          <a:bodyPr wrap="square">
            <a:spAutoFit/>
          </a:bodyPr>
          <a:lstStyle/>
          <a:p>
            <a:pPr algn="l">
              <a:spcAft>
                <a:spcPts val="600"/>
              </a:spcAft>
            </a:pPr>
            <a:r>
              <a:rPr sz="1400" b="1" i="0">
                <a:solidFill>
                  <a:srgbClr val="1B2420"/>
                </a:solidFill>
                <a:latin typeface="Verdana"/>
              </a:rPr>
              <a:t>Parth</a:t>
            </a:r>
          </a:p>
        </p:txBody>
      </p:sp>
      <p:sp>
        <p:nvSpPr>
          <p:cNvPr id="14" name="TextBox 13"/>
          <p:cNvSpPr txBox="1"/>
          <p:nvPr/>
        </p:nvSpPr>
        <p:spPr>
          <a:xfrm>
            <a:off x="2468880" y="3068320"/>
            <a:ext cx="4023360" cy="640080"/>
          </a:xfrm>
          <a:prstGeom prst="rect">
            <a:avLst/>
          </a:prstGeom>
          <a:noFill/>
        </p:spPr>
        <p:txBody>
          <a:bodyPr wrap="square">
            <a:spAutoFit/>
          </a:bodyPr>
          <a:lstStyle/>
          <a:p>
            <a:pPr algn="l">
              <a:lnSpc>
                <a:spcPct val="115000"/>
              </a:lnSpc>
              <a:spcAft>
                <a:spcPts val="600"/>
              </a:spcAft>
            </a:pPr>
            <a:r>
              <a:rPr sz="1250" b="0" i="0">
                <a:solidFill>
                  <a:srgbClr val="1B2420"/>
                </a:solidFill>
                <a:latin typeface="Verdana"/>
              </a:rPr>
              <a:t>Dictionary · HashSet</a:t>
            </a:r>
          </a:p>
        </p:txBody>
      </p:sp>
      <p:sp>
        <p:nvSpPr>
          <p:cNvPr id="15" name="TextBox 14"/>
          <p:cNvSpPr txBox="1"/>
          <p:nvPr/>
        </p:nvSpPr>
        <p:spPr>
          <a:xfrm>
            <a:off x="6492240" y="3068320"/>
            <a:ext cx="2926080" cy="640080"/>
          </a:xfrm>
          <a:prstGeom prst="rect">
            <a:avLst/>
          </a:prstGeom>
          <a:noFill/>
        </p:spPr>
        <p:txBody>
          <a:bodyPr wrap="square">
            <a:spAutoFit/>
          </a:bodyPr>
          <a:lstStyle/>
          <a:p>
            <a:pPr algn="l">
              <a:lnSpc>
                <a:spcPct val="115000"/>
              </a:lnSpc>
              <a:spcAft>
                <a:spcPts val="600"/>
              </a:spcAft>
            </a:pPr>
            <a:r>
              <a:rPr sz="1250" b="0" i="0">
                <a:solidFill>
                  <a:srgbClr val="1B2420"/>
                </a:solidFill>
                <a:latin typeface="Verdana"/>
              </a:rPr>
              <a:t>Factory Method</a:t>
            </a:r>
          </a:p>
        </p:txBody>
      </p:sp>
      <p:sp>
        <p:nvSpPr>
          <p:cNvPr id="16" name="TextBox 15"/>
          <p:cNvSpPr txBox="1"/>
          <p:nvPr/>
        </p:nvSpPr>
        <p:spPr>
          <a:xfrm>
            <a:off x="9418320" y="3068320"/>
            <a:ext cx="1463040" cy="640080"/>
          </a:xfrm>
          <a:prstGeom prst="rect">
            <a:avLst/>
          </a:prstGeom>
          <a:noFill/>
        </p:spPr>
        <p:txBody>
          <a:bodyPr wrap="square">
            <a:spAutoFit/>
          </a:bodyPr>
          <a:lstStyle/>
          <a:p>
            <a:pPr algn="l">
              <a:spcAft>
                <a:spcPts val="600"/>
              </a:spcAft>
            </a:pPr>
            <a:r>
              <a:rPr sz="1300" b="0" i="0">
                <a:solidFill>
                  <a:srgbClr val="5A6459"/>
                </a:solidFill>
                <a:latin typeface="Consolas"/>
              </a:rPr>
              <a:t>3</a:t>
            </a:r>
          </a:p>
        </p:txBody>
      </p:sp>
      <p:sp>
        <p:nvSpPr>
          <p:cNvPr id="17" name="Rectangle 16"/>
          <p:cNvSpPr/>
          <p:nvPr/>
        </p:nvSpPr>
        <p:spPr>
          <a:xfrm>
            <a:off x="640080" y="3683000"/>
            <a:ext cx="10241280"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894328"/>
            <a:ext cx="128016" cy="128016"/>
          </a:xfrm>
          <a:prstGeom prst="ellipse">
            <a:avLst/>
          </a:prstGeom>
          <a:solidFill>
            <a:srgbClr val="AD57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3784600"/>
            <a:ext cx="1554480" cy="640080"/>
          </a:xfrm>
          <a:prstGeom prst="rect">
            <a:avLst/>
          </a:prstGeom>
          <a:noFill/>
        </p:spPr>
        <p:txBody>
          <a:bodyPr wrap="square">
            <a:spAutoFit/>
          </a:bodyPr>
          <a:lstStyle/>
          <a:p>
            <a:pPr algn="l">
              <a:spcAft>
                <a:spcPts val="600"/>
              </a:spcAft>
            </a:pPr>
            <a:r>
              <a:rPr sz="1400" b="1" i="0">
                <a:solidFill>
                  <a:srgbClr val="1B2420"/>
                </a:solidFill>
                <a:latin typeface="Verdana"/>
              </a:rPr>
              <a:t>Dhruv</a:t>
            </a:r>
          </a:p>
        </p:txBody>
      </p:sp>
      <p:sp>
        <p:nvSpPr>
          <p:cNvPr id="20" name="TextBox 19"/>
          <p:cNvSpPr txBox="1"/>
          <p:nvPr/>
        </p:nvSpPr>
        <p:spPr>
          <a:xfrm>
            <a:off x="2468880" y="3784600"/>
            <a:ext cx="4023360" cy="640080"/>
          </a:xfrm>
          <a:prstGeom prst="rect">
            <a:avLst/>
          </a:prstGeom>
          <a:noFill/>
        </p:spPr>
        <p:txBody>
          <a:bodyPr wrap="square">
            <a:spAutoFit/>
          </a:bodyPr>
          <a:lstStyle/>
          <a:p>
            <a:pPr algn="l">
              <a:lnSpc>
                <a:spcPct val="115000"/>
              </a:lnSpc>
              <a:spcAft>
                <a:spcPts val="600"/>
              </a:spcAft>
            </a:pPr>
            <a:r>
              <a:rPr sz="1250" b="0" i="0">
                <a:solidFill>
                  <a:srgbClr val="1B2420"/>
                </a:solidFill>
                <a:latin typeface="Verdana"/>
              </a:rPr>
              <a:t>Custom Linked List · Stack ×2</a:t>
            </a:r>
          </a:p>
        </p:txBody>
      </p:sp>
      <p:sp>
        <p:nvSpPr>
          <p:cNvPr id="21" name="TextBox 20"/>
          <p:cNvSpPr txBox="1"/>
          <p:nvPr/>
        </p:nvSpPr>
        <p:spPr>
          <a:xfrm>
            <a:off x="6492240" y="3784600"/>
            <a:ext cx="2926080" cy="640080"/>
          </a:xfrm>
          <a:prstGeom prst="rect">
            <a:avLst/>
          </a:prstGeom>
          <a:noFill/>
        </p:spPr>
        <p:txBody>
          <a:bodyPr wrap="square">
            <a:spAutoFit/>
          </a:bodyPr>
          <a:lstStyle/>
          <a:p>
            <a:pPr algn="l">
              <a:lnSpc>
                <a:spcPct val="115000"/>
              </a:lnSpc>
              <a:spcAft>
                <a:spcPts val="600"/>
              </a:spcAft>
            </a:pPr>
            <a:r>
              <a:rPr sz="1250" b="0" i="0">
                <a:solidFill>
                  <a:srgbClr val="1B2420"/>
                </a:solidFill>
                <a:latin typeface="Verdana"/>
              </a:rPr>
              <a:t>Command · Decorator</a:t>
            </a:r>
          </a:p>
        </p:txBody>
      </p:sp>
      <p:sp>
        <p:nvSpPr>
          <p:cNvPr id="22" name="TextBox 21"/>
          <p:cNvSpPr txBox="1"/>
          <p:nvPr/>
        </p:nvSpPr>
        <p:spPr>
          <a:xfrm>
            <a:off x="9418320" y="3784600"/>
            <a:ext cx="1463040" cy="640080"/>
          </a:xfrm>
          <a:prstGeom prst="rect">
            <a:avLst/>
          </a:prstGeom>
          <a:noFill/>
        </p:spPr>
        <p:txBody>
          <a:bodyPr wrap="square">
            <a:spAutoFit/>
          </a:bodyPr>
          <a:lstStyle/>
          <a:p>
            <a:pPr algn="l">
              <a:spcAft>
                <a:spcPts val="600"/>
              </a:spcAft>
            </a:pPr>
            <a:r>
              <a:rPr sz="1300" b="0" i="0">
                <a:solidFill>
                  <a:srgbClr val="5A6459"/>
                </a:solidFill>
                <a:latin typeface="Consolas"/>
              </a:rPr>
              <a:t>4</a:t>
            </a:r>
          </a:p>
        </p:txBody>
      </p:sp>
      <p:sp>
        <p:nvSpPr>
          <p:cNvPr id="23" name="Rectangle 22"/>
          <p:cNvSpPr/>
          <p:nvPr/>
        </p:nvSpPr>
        <p:spPr>
          <a:xfrm>
            <a:off x="640080" y="4399280"/>
            <a:ext cx="10241280"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4610608"/>
            <a:ext cx="128016" cy="128016"/>
          </a:xfrm>
          <a:prstGeom prst="ellipse">
            <a:avLst/>
          </a:prstGeom>
          <a:solidFill>
            <a:srgbClr val="C68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4500880"/>
            <a:ext cx="1554480" cy="640080"/>
          </a:xfrm>
          <a:prstGeom prst="rect">
            <a:avLst/>
          </a:prstGeom>
          <a:noFill/>
        </p:spPr>
        <p:txBody>
          <a:bodyPr wrap="square">
            <a:spAutoFit/>
          </a:bodyPr>
          <a:lstStyle/>
          <a:p>
            <a:pPr algn="l">
              <a:spcAft>
                <a:spcPts val="600"/>
              </a:spcAft>
            </a:pPr>
            <a:r>
              <a:rPr sz="1400" b="1" i="0">
                <a:solidFill>
                  <a:srgbClr val="1B2420"/>
                </a:solidFill>
                <a:latin typeface="Verdana"/>
              </a:rPr>
              <a:t>Sahil</a:t>
            </a:r>
          </a:p>
        </p:txBody>
      </p:sp>
      <p:sp>
        <p:nvSpPr>
          <p:cNvPr id="26" name="TextBox 25"/>
          <p:cNvSpPr txBox="1"/>
          <p:nvPr/>
        </p:nvSpPr>
        <p:spPr>
          <a:xfrm>
            <a:off x="2468880" y="4500880"/>
            <a:ext cx="4023360" cy="640080"/>
          </a:xfrm>
          <a:prstGeom prst="rect">
            <a:avLst/>
          </a:prstGeom>
          <a:noFill/>
        </p:spPr>
        <p:txBody>
          <a:bodyPr wrap="square">
            <a:spAutoFit/>
          </a:bodyPr>
          <a:lstStyle/>
          <a:p>
            <a:pPr algn="l">
              <a:lnSpc>
                <a:spcPct val="115000"/>
              </a:lnSpc>
              <a:spcAft>
                <a:spcPts val="600"/>
              </a:spcAft>
            </a:pPr>
            <a:r>
              <a:rPr sz="1250" b="0" i="0">
                <a:solidFill>
                  <a:srgbClr val="1B2420"/>
                </a:solidFill>
                <a:latin typeface="Verdana"/>
              </a:rPr>
              <a:t>Sorted Linked List · Queue</a:t>
            </a:r>
          </a:p>
        </p:txBody>
      </p:sp>
      <p:sp>
        <p:nvSpPr>
          <p:cNvPr id="27" name="TextBox 26"/>
          <p:cNvSpPr txBox="1"/>
          <p:nvPr/>
        </p:nvSpPr>
        <p:spPr>
          <a:xfrm>
            <a:off x="6492240" y="4500880"/>
            <a:ext cx="2926080" cy="640080"/>
          </a:xfrm>
          <a:prstGeom prst="rect">
            <a:avLst/>
          </a:prstGeom>
          <a:noFill/>
        </p:spPr>
        <p:txBody>
          <a:bodyPr wrap="square">
            <a:spAutoFit/>
          </a:bodyPr>
          <a:lstStyle/>
          <a:p>
            <a:pPr algn="l">
              <a:lnSpc>
                <a:spcPct val="115000"/>
              </a:lnSpc>
              <a:spcAft>
                <a:spcPts val="600"/>
              </a:spcAft>
            </a:pPr>
            <a:r>
              <a:rPr sz="1250" b="0" i="0">
                <a:solidFill>
                  <a:srgbClr val="1B2420"/>
                </a:solidFill>
                <a:latin typeface="Verdana"/>
              </a:rPr>
              <a:t>Facade</a:t>
            </a:r>
          </a:p>
        </p:txBody>
      </p:sp>
      <p:sp>
        <p:nvSpPr>
          <p:cNvPr id="28" name="TextBox 27"/>
          <p:cNvSpPr txBox="1"/>
          <p:nvPr/>
        </p:nvSpPr>
        <p:spPr>
          <a:xfrm>
            <a:off x="9418320" y="4500880"/>
            <a:ext cx="1463040" cy="640080"/>
          </a:xfrm>
          <a:prstGeom prst="rect">
            <a:avLst/>
          </a:prstGeom>
          <a:noFill/>
        </p:spPr>
        <p:txBody>
          <a:bodyPr wrap="square">
            <a:spAutoFit/>
          </a:bodyPr>
          <a:lstStyle/>
          <a:p>
            <a:pPr algn="l">
              <a:spcAft>
                <a:spcPts val="600"/>
              </a:spcAft>
            </a:pPr>
            <a:r>
              <a:rPr sz="1300" b="0" i="0">
                <a:solidFill>
                  <a:srgbClr val="5A6459"/>
                </a:solidFill>
                <a:latin typeface="Consolas"/>
              </a:rPr>
              <a:t>3</a:t>
            </a:r>
          </a:p>
        </p:txBody>
      </p:sp>
      <p:sp>
        <p:nvSpPr>
          <p:cNvPr id="29" name="Rectangle 28"/>
          <p:cNvSpPr/>
          <p:nvPr/>
        </p:nvSpPr>
        <p:spPr>
          <a:xfrm>
            <a:off x="640080" y="5115560"/>
            <a:ext cx="10241280"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892040"/>
            <a:ext cx="10424160" cy="1371600"/>
          </a:xfrm>
          <a:prstGeom prst="rect">
            <a:avLst/>
          </a:prstGeom>
          <a:noFill/>
        </p:spPr>
        <p:txBody>
          <a:bodyPr wrap="square">
            <a:spAutoFit/>
          </a:bodyPr>
          <a:lstStyle/>
          <a:p>
            <a:pPr algn="l">
              <a:lnSpc>
                <a:spcPct val="130000"/>
              </a:lnSpc>
              <a:spcAft>
                <a:spcPts val="600"/>
              </a:spcAft>
            </a:pPr>
            <a:r>
              <a:rPr sz="1150" b="0" i="0">
                <a:solidFill>
                  <a:srgbClr val="8A9187"/>
                </a:solidFill>
                <a:latin typeface="Verdana"/>
              </a:rPr>
              <a:t>Dhruv's extra pattern (Decorator) is offset elsewhere: Sahil alone also owns main.py — the largest single file and the full 14-option integration layer — and Parth's two structures anchor both the product model and the catalogue's CRUD surface. Net effort lands even.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100" b="1" i="0">
                <a:solidFill>
                  <a:srgbClr val="C6860A"/>
                </a:solidFill>
                <a:latin typeface="Consolas"/>
              </a:rPr>
              <a:t>●  </a:t>
            </a:r>
            <a:r>
              <a:rPr sz="1050" b="0" i="0" spc="120">
                <a:solidFill>
                  <a:srgbClr val="8A9187"/>
                </a:solidFill>
                <a:latin typeface="Consolas"/>
              </a:rPr>
              <a:t>05 · WHO DID WHAT</a:t>
            </a:r>
          </a:p>
        </p:txBody>
      </p:sp>
      <p:sp>
        <p:nvSpPr>
          <p:cNvPr id="3" name="TextBox 2"/>
          <p:cNvSpPr txBox="1"/>
          <p:nvPr/>
        </p:nvSpPr>
        <p:spPr>
          <a:xfrm>
            <a:off x="10241280" y="320040"/>
            <a:ext cx="1280160" cy="365760"/>
          </a:xfrm>
          <a:prstGeom prst="rect">
            <a:avLst/>
          </a:prstGeom>
          <a:noFill/>
        </p:spPr>
        <p:txBody>
          <a:bodyPr wrap="square">
            <a:spAutoFit/>
          </a:bodyPr>
          <a:lstStyle/>
          <a:p>
            <a:pPr algn="r">
              <a:spcAft>
                <a:spcPts val="600"/>
              </a:spcAft>
            </a:pPr>
            <a:r>
              <a:rPr sz="1050" b="0" i="0" spc="80">
                <a:solidFill>
                  <a:srgbClr val="8A9187"/>
                </a:solidFill>
                <a:latin typeface="Consolas"/>
              </a:rPr>
              <a:t>06 / 12</a:t>
            </a:r>
          </a:p>
        </p:txBody>
      </p:sp>
      <p:sp>
        <p:nvSpPr>
          <p:cNvPr id="4" name="Rectangle 3"/>
          <p:cNvSpPr/>
          <p:nvPr/>
        </p:nvSpPr>
        <p:spPr>
          <a:xfrm>
            <a:off x="640080" y="713232"/>
            <a:ext cx="10908792"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58368" y="932688"/>
            <a:ext cx="201168" cy="201168"/>
          </a:xfrm>
          <a:prstGeom prst="ellipse">
            <a:avLst/>
          </a:prstGeom>
          <a:solidFill>
            <a:srgbClr val="2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822960"/>
            <a:ext cx="5943600" cy="502920"/>
          </a:xfrm>
          <a:prstGeom prst="rect">
            <a:avLst/>
          </a:prstGeom>
          <a:noFill/>
        </p:spPr>
        <p:txBody>
          <a:bodyPr wrap="square">
            <a:spAutoFit/>
          </a:bodyPr>
          <a:lstStyle/>
          <a:p>
            <a:r>
              <a:rPr sz="2600" b="1" i="0">
                <a:solidFill>
                  <a:srgbClr val="1B2420"/>
                </a:solidFill>
                <a:latin typeface="Georgia"/>
              </a:rPr>
              <a:t>Parth</a:t>
            </a:r>
            <a:r>
              <a:rPr sz="1400" b="0" i="0">
                <a:solidFill>
                  <a:srgbClr val="5A6459"/>
                </a:solidFill>
                <a:latin typeface="Verdana"/>
              </a:rPr>
              <a:t>   — Catalogue &amp; Product Foundation</a:t>
            </a:r>
          </a:p>
        </p:txBody>
      </p:sp>
      <p:sp>
        <p:nvSpPr>
          <p:cNvPr id="7" name="TextBox 6"/>
          <p:cNvSpPr txBox="1"/>
          <p:nvPr/>
        </p:nvSpPr>
        <p:spPr>
          <a:xfrm>
            <a:off x="658368" y="1371600"/>
            <a:ext cx="8229600" cy="320040"/>
          </a:xfrm>
          <a:prstGeom prst="rect">
            <a:avLst/>
          </a:prstGeom>
          <a:noFill/>
        </p:spPr>
        <p:txBody>
          <a:bodyPr wrap="square">
            <a:spAutoFit/>
          </a:bodyPr>
          <a:lstStyle/>
          <a:p>
            <a:pPr algn="l">
              <a:spcAft>
                <a:spcPts val="600"/>
              </a:spcAft>
            </a:pPr>
            <a:r>
              <a:rPr sz="1050" b="0" i="0">
                <a:solidFill>
                  <a:srgbClr val="8A9187"/>
                </a:solidFill>
                <a:latin typeface="Consolas"/>
              </a:rPr>
              <a:t>models.py · catalogue.py</a:t>
            </a:r>
          </a:p>
        </p:txBody>
      </p:sp>
      <p:sp>
        <p:nvSpPr>
          <p:cNvPr id="8" name="TextBox 7"/>
          <p:cNvSpPr txBox="1"/>
          <p:nvPr/>
        </p:nvSpPr>
        <p:spPr>
          <a:xfrm>
            <a:off x="658368" y="1874519"/>
            <a:ext cx="6766560" cy="4480560"/>
          </a:xfrm>
          <a:prstGeom prst="rect">
            <a:avLst/>
          </a:prstGeom>
          <a:noFill/>
        </p:spPr>
        <p:txBody>
          <a:bodyPr wrap="square">
            <a:spAutoFit/>
          </a:bodyPr>
          <a:lstStyle/>
          <a:p>
            <a:pPr>
              <a:lnSpc>
                <a:spcPct val="122000"/>
              </a:lnSpc>
              <a:spcAft>
                <a:spcPts val="1200"/>
              </a:spcAft>
            </a:pPr>
            <a:r>
              <a:rPr sz="1250" b="1" i="0">
                <a:solidFill>
                  <a:srgbClr val="1B2420"/>
                </a:solidFill>
                <a:latin typeface="Verdana"/>
              </a:rPr>
              <a:t>•  Product hierarchy (models.py).  </a:t>
            </a:r>
            <a:r>
              <a:rPr sz="1200" b="0" i="0">
                <a:solidFill>
                  <a:srgbClr val="5A6459"/>
                </a:solidFill>
                <a:latin typeface="Verdana"/>
              </a:rPr>
              <a:t>An abstract Product base holds sku, name, price and a tag set; calculate_tax() is abstract so every subclass must define its own rate. PhysicalProduct (13% tax, has weight), DigitalProduct (5% tax) and SubscriptionProduct (0% tax) implement it.</a:t>
            </a:r>
          </a:p>
          <a:p>
            <a:pPr>
              <a:lnSpc>
                <a:spcPct val="122000"/>
              </a:lnSpc>
              <a:spcAft>
                <a:spcPts val="1200"/>
              </a:spcAft>
            </a:pPr>
            <a:r>
              <a:rPr sz="1250" b="1" i="0">
                <a:solidFill>
                  <a:srgbClr val="1B2420"/>
                </a:solidFill>
                <a:latin typeface="Verdana"/>
              </a:rPr>
              <a:t>•  Factory Method.  </a:t>
            </a:r>
            <a:r>
              <a:rPr sz="1200" b="0" i="0">
                <a:solidFill>
                  <a:srgbClr val="5A6459"/>
                </a:solidFill>
                <a:latin typeface="Verdana"/>
              </a:rPr>
              <a:t>ProductFactory.create_product(type, …) reads a string like “Physical” and returns the matching subclass, raising ValueError on an unknown type — callers never touch a subclass constructor directly.</a:t>
            </a:r>
          </a:p>
          <a:p>
            <a:pPr>
              <a:lnSpc>
                <a:spcPct val="122000"/>
              </a:lnSpc>
              <a:spcAft>
                <a:spcPts val="1200"/>
              </a:spcAft>
            </a:pPr>
            <a:r>
              <a:rPr sz="1250" b="1" i="0">
                <a:solidFill>
                  <a:srgbClr val="1B2420"/>
                </a:solidFill>
                <a:latin typeface="Verdana"/>
              </a:rPr>
              <a:t>•  Dictionary CRUD (catalogue.py).  </a:t>
            </a:r>
            <a:r>
              <a:rPr sz="1200" b="0" i="0">
                <a:solidFill>
                  <a:srgbClr val="5A6459"/>
                </a:solidFill>
                <a:latin typeface="Verdana"/>
              </a:rPr>
              <a:t>Catalogue.products: Dict[str, Product] gives O(1) SKU lookup. add_product rejects duplicate SKUs, remove_product raises KeyError on a miss, update_product only overwrites fields actually passed.</a:t>
            </a:r>
          </a:p>
          <a:p>
            <a:pPr>
              <a:lnSpc>
                <a:spcPct val="122000"/>
              </a:lnSpc>
              <a:spcAft>
                <a:spcPts val="1200"/>
              </a:spcAft>
            </a:pPr>
            <a:r>
              <a:rPr sz="1250" b="1" i="0">
                <a:solidFill>
                  <a:srgbClr val="1B2420"/>
                </a:solidFill>
                <a:latin typeface="Verdana"/>
              </a:rPr>
              <a:t>•  HashSet tag search.  </a:t>
            </a:r>
            <a:r>
              <a:rPr sz="1200" b="0" i="0">
                <a:solidFill>
                  <a:srgbClr val="5A6459"/>
                </a:solidFill>
                <a:latin typeface="Verdana"/>
              </a:rPr>
              <a:t>match_all=True uses tags.issubset(p.tags) (intersection); match_all=False uses tags &amp; p.tags (any-match). all_tags() unions every product's tags into one master set.</a:t>
            </a:r>
          </a:p>
        </p:txBody>
      </p:sp>
      <p:sp>
        <p:nvSpPr>
          <p:cNvPr id="9" name="Rounded Rectangle 8"/>
          <p:cNvSpPr/>
          <p:nvPr/>
        </p:nvSpPr>
        <p:spPr>
          <a:xfrm>
            <a:off x="7635240" y="1874519"/>
            <a:ext cx="3246120" cy="4206240"/>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2075687"/>
            <a:ext cx="2788920" cy="3840480"/>
          </a:xfrm>
          <a:prstGeom prst="rect">
            <a:avLst/>
          </a:prstGeom>
          <a:noFill/>
        </p:spPr>
        <p:txBody>
          <a:bodyPr wrap="square">
            <a:spAutoFit/>
          </a:bodyPr>
          <a:lstStyle/>
          <a:p>
            <a:pPr algn="l">
              <a:spcAft>
                <a:spcPts val="1200"/>
              </a:spcAft>
            </a:pPr>
            <a:r>
              <a:rPr sz="950" b="1" i="0" spc="80">
                <a:solidFill>
                  <a:srgbClr val="8A9187"/>
                </a:solidFill>
                <a:latin typeface="Consolas"/>
              </a:rPr>
              <a:t>OWNERSHIP</a:t>
            </a:r>
          </a:p>
          <a:p>
            <a:pPr>
              <a:spcAft>
                <a:spcPts val="200"/>
              </a:spcAft>
            </a:pPr>
            <a:r>
              <a:rPr sz="1050" b="0" i="0">
                <a:solidFill>
                  <a:srgbClr val="5A6459"/>
                </a:solidFill>
                <a:latin typeface="Verdana"/>
              </a:rPr>
              <a:t>Data structures</a:t>
            </a:r>
          </a:p>
          <a:p>
            <a:pPr>
              <a:lnSpc>
                <a:spcPct val="120000"/>
              </a:lnSpc>
              <a:spcAft>
                <a:spcPts val="1200"/>
              </a:spcAft>
            </a:pPr>
            <a:r>
              <a:rPr sz="1100" b="1" i="0">
                <a:solidFill>
                  <a:srgbClr val="1B2420"/>
                </a:solidFill>
                <a:latin typeface="Consolas"/>
              </a:rPr>
              <a:t>Dictionary, HashSet</a:t>
            </a:r>
          </a:p>
          <a:p>
            <a:pPr>
              <a:spcAft>
                <a:spcPts val="200"/>
              </a:spcAft>
            </a:pPr>
            <a:r>
              <a:rPr sz="1050" b="0" i="0">
                <a:solidFill>
                  <a:srgbClr val="5A6459"/>
                </a:solidFill>
                <a:latin typeface="Verdana"/>
              </a:rPr>
              <a:t>Pattern(s)</a:t>
            </a:r>
          </a:p>
          <a:p>
            <a:pPr>
              <a:lnSpc>
                <a:spcPct val="120000"/>
              </a:lnSpc>
              <a:spcAft>
                <a:spcPts val="1200"/>
              </a:spcAft>
            </a:pPr>
            <a:r>
              <a:rPr sz="1100" b="1" i="0">
                <a:solidFill>
                  <a:srgbClr val="1B2420"/>
                </a:solidFill>
                <a:latin typeface="Consolas"/>
              </a:rPr>
              <a:t>Factory Method</a:t>
            </a:r>
          </a:p>
          <a:p>
            <a:pPr>
              <a:spcAft>
                <a:spcPts val="200"/>
              </a:spcAft>
            </a:pPr>
            <a:r>
              <a:rPr sz="1050" b="0" i="0">
                <a:solidFill>
                  <a:srgbClr val="5A6459"/>
                </a:solidFill>
                <a:latin typeface="Verdana"/>
              </a:rPr>
              <a:t>Pipeline stage</a:t>
            </a:r>
          </a:p>
          <a:p>
            <a:pPr>
              <a:lnSpc>
                <a:spcPct val="120000"/>
              </a:lnSpc>
              <a:spcAft>
                <a:spcPts val="1200"/>
              </a:spcAft>
            </a:pPr>
            <a:r>
              <a:rPr sz="1100" b="1" i="0">
                <a:solidFill>
                  <a:srgbClr val="1B2420"/>
                </a:solidFill>
                <a:latin typeface="Consolas"/>
              </a:rPr>
              <a:t>Catalogue</a:t>
            </a:r>
          </a:p>
          <a:p>
            <a:pPr>
              <a:spcAft>
                <a:spcPts val="200"/>
              </a:spcAft>
            </a:pPr>
            <a:r>
              <a:rPr sz="1050" b="0" i="0">
                <a:solidFill>
                  <a:srgbClr val="5A6459"/>
                </a:solidFill>
                <a:latin typeface="Verdana"/>
              </a:rPr>
              <a:t>Test files</a:t>
            </a:r>
          </a:p>
          <a:p>
            <a:pPr>
              <a:lnSpc>
                <a:spcPct val="120000"/>
              </a:lnSpc>
              <a:spcAft>
                <a:spcPts val="1200"/>
              </a:spcAft>
            </a:pPr>
            <a:r>
              <a:rPr sz="1100" b="1" i="0">
                <a:solidFill>
                  <a:srgbClr val="1B2420"/>
                </a:solidFill>
                <a:latin typeface="Consolas"/>
              </a:rPr>
              <a:t>test_models.py
test_catalogue.py</a:t>
            </a:r>
          </a:p>
          <a:p>
            <a:pPr>
              <a:lnSpc>
                <a:spcPct val="125000"/>
              </a:lnSpc>
              <a:spcAft>
                <a:spcPts val="0"/>
              </a:spcAft>
            </a:pPr>
            <a:r>
              <a:rPr sz="1100" b="1" i="0">
                <a:solidFill>
                  <a:srgbClr val="C6860A"/>
                </a:solidFill>
                <a:latin typeface="Verdana"/>
              </a:rPr>
              <a:t>17 test cases owned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100" b="1" i="0">
                <a:solidFill>
                  <a:srgbClr val="C6860A"/>
                </a:solidFill>
                <a:latin typeface="Consolas"/>
              </a:rPr>
              <a:t>●  </a:t>
            </a:r>
            <a:r>
              <a:rPr sz="1050" b="0" i="0" spc="120">
                <a:solidFill>
                  <a:srgbClr val="8A9187"/>
                </a:solidFill>
                <a:latin typeface="Consolas"/>
              </a:rPr>
              <a:t>05 · WHO DID WHAT</a:t>
            </a:r>
          </a:p>
        </p:txBody>
      </p:sp>
      <p:sp>
        <p:nvSpPr>
          <p:cNvPr id="3" name="TextBox 2"/>
          <p:cNvSpPr txBox="1"/>
          <p:nvPr/>
        </p:nvSpPr>
        <p:spPr>
          <a:xfrm>
            <a:off x="10241280" y="320040"/>
            <a:ext cx="1280160" cy="365760"/>
          </a:xfrm>
          <a:prstGeom prst="rect">
            <a:avLst/>
          </a:prstGeom>
          <a:noFill/>
        </p:spPr>
        <p:txBody>
          <a:bodyPr wrap="square">
            <a:spAutoFit/>
          </a:bodyPr>
          <a:lstStyle/>
          <a:p>
            <a:pPr algn="r">
              <a:spcAft>
                <a:spcPts val="600"/>
              </a:spcAft>
            </a:pPr>
            <a:r>
              <a:rPr sz="1050" b="0" i="0" spc="80">
                <a:solidFill>
                  <a:srgbClr val="8A9187"/>
                </a:solidFill>
                <a:latin typeface="Consolas"/>
              </a:rPr>
              <a:t>07 / 12</a:t>
            </a:r>
          </a:p>
        </p:txBody>
      </p:sp>
      <p:sp>
        <p:nvSpPr>
          <p:cNvPr id="4" name="Rectangle 3"/>
          <p:cNvSpPr/>
          <p:nvPr/>
        </p:nvSpPr>
        <p:spPr>
          <a:xfrm>
            <a:off x="640080" y="713232"/>
            <a:ext cx="10908792"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58368" y="932688"/>
            <a:ext cx="201168" cy="201168"/>
          </a:xfrm>
          <a:prstGeom prst="ellipse">
            <a:avLst/>
          </a:prstGeom>
          <a:solidFill>
            <a:srgbClr val="AD57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822960"/>
            <a:ext cx="5943600" cy="502920"/>
          </a:xfrm>
          <a:prstGeom prst="rect">
            <a:avLst/>
          </a:prstGeom>
          <a:noFill/>
        </p:spPr>
        <p:txBody>
          <a:bodyPr wrap="square">
            <a:spAutoFit/>
          </a:bodyPr>
          <a:lstStyle/>
          <a:p>
            <a:r>
              <a:rPr sz="2600" b="1" i="0">
                <a:solidFill>
                  <a:srgbClr val="1B2420"/>
                </a:solidFill>
                <a:latin typeface="Georgia"/>
              </a:rPr>
              <a:t>Dhruv</a:t>
            </a:r>
            <a:r>
              <a:rPr sz="1400" b="0" i="0">
                <a:solidFill>
                  <a:srgbClr val="5A6459"/>
                </a:solidFill>
                <a:latin typeface="Verdana"/>
              </a:rPr>
              <a:t>   — Cart, Undo/Redo &amp; Discounts</a:t>
            </a:r>
          </a:p>
        </p:txBody>
      </p:sp>
      <p:sp>
        <p:nvSpPr>
          <p:cNvPr id="7" name="TextBox 6"/>
          <p:cNvSpPr txBox="1"/>
          <p:nvPr/>
        </p:nvSpPr>
        <p:spPr>
          <a:xfrm>
            <a:off x="658368" y="1371600"/>
            <a:ext cx="8229600" cy="320040"/>
          </a:xfrm>
          <a:prstGeom prst="rect">
            <a:avLst/>
          </a:prstGeom>
          <a:noFill/>
        </p:spPr>
        <p:txBody>
          <a:bodyPr wrap="square">
            <a:spAutoFit/>
          </a:bodyPr>
          <a:lstStyle/>
          <a:p>
            <a:pPr algn="l">
              <a:spcAft>
                <a:spcPts val="600"/>
              </a:spcAft>
            </a:pPr>
            <a:r>
              <a:rPr sz="1050" b="0" i="0">
                <a:solidFill>
                  <a:srgbClr val="8A9187"/>
                </a:solidFill>
                <a:latin typeface="Consolas"/>
              </a:rPr>
              <a:t>cart.py · discounts.py</a:t>
            </a:r>
          </a:p>
        </p:txBody>
      </p:sp>
      <p:sp>
        <p:nvSpPr>
          <p:cNvPr id="8" name="TextBox 7"/>
          <p:cNvSpPr txBox="1"/>
          <p:nvPr/>
        </p:nvSpPr>
        <p:spPr>
          <a:xfrm>
            <a:off x="658368" y="1874519"/>
            <a:ext cx="6766560" cy="4480560"/>
          </a:xfrm>
          <a:prstGeom prst="rect">
            <a:avLst/>
          </a:prstGeom>
          <a:noFill/>
        </p:spPr>
        <p:txBody>
          <a:bodyPr wrap="square">
            <a:spAutoFit/>
          </a:bodyPr>
          <a:lstStyle/>
          <a:p>
            <a:pPr>
              <a:lnSpc>
                <a:spcPct val="122000"/>
              </a:lnSpc>
              <a:spcAft>
                <a:spcPts val="1200"/>
              </a:spcAft>
            </a:pPr>
            <a:r>
              <a:rPr sz="1250" b="1" i="0">
                <a:solidFill>
                  <a:srgbClr val="1B2420"/>
                </a:solidFill>
                <a:latin typeface="Verdana"/>
              </a:rPr>
              <a:t>•  Custom linked list (cart.py).  </a:t>
            </a:r>
            <a:r>
              <a:rPr sz="1200" b="0" i="0">
                <a:solidFill>
                  <a:srgbClr val="5A6459"/>
                </a:solidFill>
                <a:latin typeface="Verdana"/>
              </a:rPr>
              <a:t>CartItem nodes hold (product, quantity, next). add() bumps quantity in place if the SKU exists, else inserts a new head node in O(1); remove() and update_quantity() walk with a prev/current pair to unlink safely.</a:t>
            </a:r>
          </a:p>
          <a:p>
            <a:pPr>
              <a:lnSpc>
                <a:spcPct val="122000"/>
              </a:lnSpc>
              <a:spcAft>
                <a:spcPts val="1200"/>
              </a:spcAft>
            </a:pPr>
            <a:r>
              <a:rPr sz="1250" b="1" i="0">
                <a:solidFill>
                  <a:srgbClr val="1B2420"/>
                </a:solidFill>
                <a:latin typeface="Verdana"/>
              </a:rPr>
              <a:t>•  Command pattern.  </a:t>
            </a:r>
            <a:r>
              <a:rPr sz="1200" b="0" i="0">
                <a:solidFill>
                  <a:srgbClr val="5A6459"/>
                </a:solidFill>
                <a:latin typeface="Verdana"/>
              </a:rPr>
              <a:t>ICartCommand defines execute()/undo(). RemoveItemCommand records exactly what it removed so undo is precise even under partial stock; UpdateQuantityCommand records the old quantity before overwriting it.</a:t>
            </a:r>
          </a:p>
          <a:p>
            <a:pPr>
              <a:lnSpc>
                <a:spcPct val="122000"/>
              </a:lnSpc>
              <a:spcAft>
                <a:spcPts val="1200"/>
              </a:spcAft>
            </a:pPr>
            <a:r>
              <a:rPr sz="1250" b="1" i="0">
                <a:solidFill>
                  <a:srgbClr val="1B2420"/>
                </a:solidFill>
                <a:latin typeface="Verdana"/>
              </a:rPr>
              <a:t>•  Two Stacks.  </a:t>
            </a:r>
            <a:r>
              <a:rPr sz="1200" b="0" i="0">
                <a:solidFill>
                  <a:srgbClr val="5A6459"/>
                </a:solidFill>
                <a:latin typeface="Verdana"/>
              </a:rPr>
              <a:t>CartManager.undo_stack/redo_stack are plain lists used as stacks. execute_command() pushes to undo_stack and clears redo_stack; undo()/redo() pop from one, replay, and push onto the other.</a:t>
            </a:r>
          </a:p>
          <a:p>
            <a:pPr>
              <a:lnSpc>
                <a:spcPct val="122000"/>
              </a:lnSpc>
              <a:spcAft>
                <a:spcPts val="1200"/>
              </a:spcAft>
            </a:pPr>
            <a:r>
              <a:rPr sz="1250" b="1" i="0">
                <a:solidFill>
                  <a:srgbClr val="1B2420"/>
                </a:solidFill>
                <a:latin typeface="Verdana"/>
              </a:rPr>
              <a:t>•  Decorator pattern (discounts.py).  </a:t>
            </a:r>
            <a:r>
              <a:rPr sz="1200" b="0" i="0">
                <a:solidFill>
                  <a:srgbClr val="5A6459"/>
                </a:solidFill>
                <a:latin typeface="Verdana"/>
              </a:rPr>
              <a:t>BaseOrder wraps the raw subtotal; FlatDiscount (floors at $0), PercentageDiscount, and BuyOneGetOneFree (drops the cheapest unit when 2+ exist) each wrap another IOrder, so they chain in any order or combination.</a:t>
            </a:r>
          </a:p>
        </p:txBody>
      </p:sp>
      <p:sp>
        <p:nvSpPr>
          <p:cNvPr id="9" name="Rounded Rectangle 8"/>
          <p:cNvSpPr/>
          <p:nvPr/>
        </p:nvSpPr>
        <p:spPr>
          <a:xfrm>
            <a:off x="7635240" y="1874519"/>
            <a:ext cx="3246120" cy="4206240"/>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2075687"/>
            <a:ext cx="2788920" cy="3840480"/>
          </a:xfrm>
          <a:prstGeom prst="rect">
            <a:avLst/>
          </a:prstGeom>
          <a:noFill/>
        </p:spPr>
        <p:txBody>
          <a:bodyPr wrap="square">
            <a:spAutoFit/>
          </a:bodyPr>
          <a:lstStyle/>
          <a:p>
            <a:pPr algn="l">
              <a:spcAft>
                <a:spcPts val="1200"/>
              </a:spcAft>
            </a:pPr>
            <a:r>
              <a:rPr sz="950" b="1" i="0" spc="80">
                <a:solidFill>
                  <a:srgbClr val="8A9187"/>
                </a:solidFill>
                <a:latin typeface="Consolas"/>
              </a:rPr>
              <a:t>OWNERSHIP</a:t>
            </a:r>
          </a:p>
          <a:p>
            <a:pPr>
              <a:spcAft>
                <a:spcPts val="200"/>
              </a:spcAft>
            </a:pPr>
            <a:r>
              <a:rPr sz="1050" b="0" i="0">
                <a:solidFill>
                  <a:srgbClr val="5A6459"/>
                </a:solidFill>
                <a:latin typeface="Verdana"/>
              </a:rPr>
              <a:t>Data structures</a:t>
            </a:r>
          </a:p>
          <a:p>
            <a:pPr>
              <a:lnSpc>
                <a:spcPct val="120000"/>
              </a:lnSpc>
              <a:spcAft>
                <a:spcPts val="1200"/>
              </a:spcAft>
            </a:pPr>
            <a:r>
              <a:rPr sz="1100" b="1" i="0">
                <a:solidFill>
                  <a:srgbClr val="1B2420"/>
                </a:solidFill>
                <a:latin typeface="Consolas"/>
              </a:rPr>
              <a:t>Custom Linked List, Stack ×2</a:t>
            </a:r>
          </a:p>
          <a:p>
            <a:pPr>
              <a:spcAft>
                <a:spcPts val="200"/>
              </a:spcAft>
            </a:pPr>
            <a:r>
              <a:rPr sz="1050" b="0" i="0">
                <a:solidFill>
                  <a:srgbClr val="5A6459"/>
                </a:solidFill>
                <a:latin typeface="Verdana"/>
              </a:rPr>
              <a:t>Pattern(s)</a:t>
            </a:r>
          </a:p>
          <a:p>
            <a:pPr>
              <a:lnSpc>
                <a:spcPct val="120000"/>
              </a:lnSpc>
              <a:spcAft>
                <a:spcPts val="1200"/>
              </a:spcAft>
            </a:pPr>
            <a:r>
              <a:rPr sz="1100" b="1" i="0">
                <a:solidFill>
                  <a:srgbClr val="1B2420"/>
                </a:solidFill>
                <a:latin typeface="Consolas"/>
              </a:rPr>
              <a:t>Command, Decorator</a:t>
            </a:r>
          </a:p>
          <a:p>
            <a:pPr>
              <a:spcAft>
                <a:spcPts val="200"/>
              </a:spcAft>
            </a:pPr>
            <a:r>
              <a:rPr sz="1050" b="0" i="0">
                <a:solidFill>
                  <a:srgbClr val="5A6459"/>
                </a:solidFill>
                <a:latin typeface="Verdana"/>
              </a:rPr>
              <a:t>Pipeline stage</a:t>
            </a:r>
          </a:p>
          <a:p>
            <a:pPr>
              <a:lnSpc>
                <a:spcPct val="120000"/>
              </a:lnSpc>
              <a:spcAft>
                <a:spcPts val="1200"/>
              </a:spcAft>
            </a:pPr>
            <a:r>
              <a:rPr sz="1100" b="1" i="0">
                <a:solidFill>
                  <a:srgbClr val="1B2420"/>
                </a:solidFill>
                <a:latin typeface="Consolas"/>
              </a:rPr>
              <a:t>Cart &amp; Checkout pricing</a:t>
            </a:r>
          </a:p>
          <a:p>
            <a:pPr>
              <a:spcAft>
                <a:spcPts val="200"/>
              </a:spcAft>
            </a:pPr>
            <a:r>
              <a:rPr sz="1050" b="0" i="0">
                <a:solidFill>
                  <a:srgbClr val="5A6459"/>
                </a:solidFill>
                <a:latin typeface="Verdana"/>
              </a:rPr>
              <a:t>Test files</a:t>
            </a:r>
          </a:p>
          <a:p>
            <a:pPr>
              <a:lnSpc>
                <a:spcPct val="120000"/>
              </a:lnSpc>
              <a:spcAft>
                <a:spcPts val="1200"/>
              </a:spcAft>
            </a:pPr>
            <a:r>
              <a:rPr sz="1100" b="1" i="0">
                <a:solidFill>
                  <a:srgbClr val="1B2420"/>
                </a:solidFill>
                <a:latin typeface="Consolas"/>
              </a:rPr>
              <a:t>test_cart.py
test_discounts.py</a:t>
            </a:r>
          </a:p>
          <a:p>
            <a:pPr>
              <a:lnSpc>
                <a:spcPct val="125000"/>
              </a:lnSpc>
              <a:spcAft>
                <a:spcPts val="0"/>
              </a:spcAft>
            </a:pPr>
            <a:r>
              <a:rPr sz="1100" b="1" i="0">
                <a:solidFill>
                  <a:srgbClr val="C6860A"/>
                </a:solidFill>
                <a:latin typeface="Verdana"/>
              </a:rPr>
              <a:t>16 test cases owned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100" b="1" i="0">
                <a:solidFill>
                  <a:srgbClr val="C6860A"/>
                </a:solidFill>
                <a:latin typeface="Consolas"/>
              </a:rPr>
              <a:t>●  </a:t>
            </a:r>
            <a:r>
              <a:rPr sz="1050" b="0" i="0" spc="120">
                <a:solidFill>
                  <a:srgbClr val="8A9187"/>
                </a:solidFill>
                <a:latin typeface="Consolas"/>
              </a:rPr>
              <a:t>05 · WHO DID WHAT</a:t>
            </a:r>
          </a:p>
        </p:txBody>
      </p:sp>
      <p:sp>
        <p:nvSpPr>
          <p:cNvPr id="3" name="TextBox 2"/>
          <p:cNvSpPr txBox="1"/>
          <p:nvPr/>
        </p:nvSpPr>
        <p:spPr>
          <a:xfrm>
            <a:off x="10241280" y="320040"/>
            <a:ext cx="1280160" cy="365760"/>
          </a:xfrm>
          <a:prstGeom prst="rect">
            <a:avLst/>
          </a:prstGeom>
          <a:noFill/>
        </p:spPr>
        <p:txBody>
          <a:bodyPr wrap="square">
            <a:spAutoFit/>
          </a:bodyPr>
          <a:lstStyle/>
          <a:p>
            <a:pPr algn="r">
              <a:spcAft>
                <a:spcPts val="600"/>
              </a:spcAft>
            </a:pPr>
            <a:r>
              <a:rPr sz="1050" b="0" i="0" spc="80">
                <a:solidFill>
                  <a:srgbClr val="8A9187"/>
                </a:solidFill>
                <a:latin typeface="Consolas"/>
              </a:rPr>
              <a:t>08 / 12</a:t>
            </a:r>
          </a:p>
        </p:txBody>
      </p:sp>
      <p:sp>
        <p:nvSpPr>
          <p:cNvPr id="4" name="Rectangle 3"/>
          <p:cNvSpPr/>
          <p:nvPr/>
        </p:nvSpPr>
        <p:spPr>
          <a:xfrm>
            <a:off x="640080" y="713232"/>
            <a:ext cx="10908792"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58368" y="932688"/>
            <a:ext cx="201168" cy="201168"/>
          </a:xfrm>
          <a:prstGeom prst="ellipse">
            <a:avLst/>
          </a:prstGeom>
          <a:solidFill>
            <a:srgbClr val="C68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822960"/>
            <a:ext cx="5943600" cy="502920"/>
          </a:xfrm>
          <a:prstGeom prst="rect">
            <a:avLst/>
          </a:prstGeom>
          <a:noFill/>
        </p:spPr>
        <p:txBody>
          <a:bodyPr wrap="square">
            <a:spAutoFit/>
          </a:bodyPr>
          <a:lstStyle/>
          <a:p>
            <a:r>
              <a:rPr sz="2600" b="1" i="0">
                <a:solidFill>
                  <a:srgbClr val="1B2420"/>
                </a:solidFill>
                <a:latin typeface="Georgia"/>
              </a:rPr>
              <a:t>Sahil</a:t>
            </a:r>
            <a:r>
              <a:rPr sz="1400" b="0" i="0">
                <a:solidFill>
                  <a:srgbClr val="5A6459"/>
                </a:solidFill>
                <a:latin typeface="Verdana"/>
              </a:rPr>
              <a:t>   — Browsing, Shipping, Fulfilment &amp; Integration</a:t>
            </a:r>
          </a:p>
        </p:txBody>
      </p:sp>
      <p:sp>
        <p:nvSpPr>
          <p:cNvPr id="7" name="TextBox 6"/>
          <p:cNvSpPr txBox="1"/>
          <p:nvPr/>
        </p:nvSpPr>
        <p:spPr>
          <a:xfrm>
            <a:off x="658368" y="1371600"/>
            <a:ext cx="8229600" cy="320040"/>
          </a:xfrm>
          <a:prstGeom prst="rect">
            <a:avLst/>
          </a:prstGeom>
          <a:noFill/>
        </p:spPr>
        <p:txBody>
          <a:bodyPr wrap="square">
            <a:spAutoFit/>
          </a:bodyPr>
          <a:lstStyle/>
          <a:p>
            <a:pPr algn="l">
              <a:spcAft>
                <a:spcPts val="600"/>
              </a:spcAft>
            </a:pPr>
            <a:r>
              <a:rPr sz="1050" b="0" i="0">
                <a:solidFill>
                  <a:srgbClr val="8A9187"/>
                </a:solidFill>
                <a:latin typeface="Consolas"/>
              </a:rPr>
              <a:t>catalogue.py (sorted browse) · shipping.py · orders.py · main.py</a:t>
            </a:r>
          </a:p>
        </p:txBody>
      </p:sp>
      <p:sp>
        <p:nvSpPr>
          <p:cNvPr id="8" name="TextBox 7"/>
          <p:cNvSpPr txBox="1"/>
          <p:nvPr/>
        </p:nvSpPr>
        <p:spPr>
          <a:xfrm>
            <a:off x="658368" y="1874519"/>
            <a:ext cx="6766560" cy="4480560"/>
          </a:xfrm>
          <a:prstGeom prst="rect">
            <a:avLst/>
          </a:prstGeom>
          <a:noFill/>
        </p:spPr>
        <p:txBody>
          <a:bodyPr wrap="square">
            <a:spAutoFit/>
          </a:bodyPr>
          <a:lstStyle/>
          <a:p>
            <a:pPr>
              <a:lnSpc>
                <a:spcPct val="122000"/>
              </a:lnSpc>
              <a:spcAft>
                <a:spcPts val="1200"/>
              </a:spcAft>
            </a:pPr>
            <a:r>
              <a:rPr sz="1250" b="1" i="0">
                <a:solidFill>
                  <a:srgbClr val="1B2420"/>
                </a:solidFill>
                <a:latin typeface="Verdana"/>
              </a:rPr>
              <a:t>•  Sorted linked list.  </a:t>
            </a:r>
            <a:r>
              <a:rPr sz="1200" b="0" i="0">
                <a:solidFill>
                  <a:srgbClr val="5A6459"/>
                </a:solidFill>
                <a:latin typeface="Verdana"/>
              </a:rPr>
              <a:t>SortedLinkedList.insert() walks the list once to place each product in ascending-price order, so “browse by price” is always pre-sorted. It's kept in sync whenever Catalogue.update_product() changes a price.</a:t>
            </a:r>
          </a:p>
          <a:p>
            <a:pPr>
              <a:lnSpc>
                <a:spcPct val="122000"/>
              </a:lnSpc>
              <a:spcAft>
                <a:spcPts val="1200"/>
              </a:spcAft>
            </a:pPr>
            <a:r>
              <a:rPr sz="1250" b="1" i="0">
                <a:solidFill>
                  <a:srgbClr val="1B2420"/>
                </a:solidFill>
                <a:latin typeface="Verdana"/>
              </a:rPr>
              <a:t>•  Facade pattern (shipping.py).  </a:t>
            </a:r>
            <a:r>
              <a:rPr sz="1200" b="0" i="0">
                <a:solidFill>
                  <a:srgbClr val="5A6459"/>
                </a:solidFill>
                <a:latin typeface="Verdana"/>
              </a:rPr>
              <a:t>ShippingFacade.calculate_shipping(cart, zone) is the only public method; internally it hides _calculate_weight (digital/subscription items contribute 0kg), _lookup_zone_multiplier (domestic 1.0x / international 1.5x) and a _carrier_quote stub behind that one call.</a:t>
            </a:r>
          </a:p>
          <a:p>
            <a:pPr>
              <a:lnSpc>
                <a:spcPct val="122000"/>
              </a:lnSpc>
              <a:spcAft>
                <a:spcPts val="1200"/>
              </a:spcAft>
            </a:pPr>
            <a:r>
              <a:rPr sz="1250" b="1" i="0">
                <a:solidFill>
                  <a:srgbClr val="1B2420"/>
                </a:solidFill>
                <a:latin typeface="Verdana"/>
              </a:rPr>
              <a:t>•  FIFO Queue (orders.py).  </a:t>
            </a:r>
            <a:r>
              <a:rPr sz="1200" b="0" i="0">
                <a:solidFill>
                  <a:srgbClr val="5A6459"/>
                </a:solidFill>
                <a:latin typeface="Verdana"/>
              </a:rPr>
              <a:t>OrderProcessor.order_queue is a collections.deque used strictly FIFO — append right, popleft left. process_orders() drains it completely, marks each order “Fulfilled,” and archives it into order_history (a List).</a:t>
            </a:r>
          </a:p>
          <a:p>
            <a:pPr>
              <a:lnSpc>
                <a:spcPct val="122000"/>
              </a:lnSpc>
              <a:spcAft>
                <a:spcPts val="1200"/>
              </a:spcAft>
            </a:pPr>
            <a:r>
              <a:rPr sz="1250" b="1" i="0">
                <a:solidFill>
                  <a:srgbClr val="1B2420"/>
                </a:solidFill>
                <a:latin typeface="Verdana"/>
              </a:rPr>
              <a:t>•  Integration (main.py).  </a:t>
            </a:r>
            <a:r>
              <a:rPr sz="1200" b="0" i="0">
                <a:solidFill>
                  <a:srgbClr val="5A6459"/>
                </a:solidFill>
                <a:latin typeface="Verdana"/>
              </a:rPr>
              <a:t>The 14-option interactive console that wires every module together: seeds the catalogue, routes menu choices into Catalogue / CartManager / discount decorators / ShippingFacade / OrderProcessor, and drives the full checkout flow end to end.</a:t>
            </a:r>
          </a:p>
        </p:txBody>
      </p:sp>
      <p:sp>
        <p:nvSpPr>
          <p:cNvPr id="9" name="Rounded Rectangle 8"/>
          <p:cNvSpPr/>
          <p:nvPr/>
        </p:nvSpPr>
        <p:spPr>
          <a:xfrm>
            <a:off x="7635240" y="1874519"/>
            <a:ext cx="3246120" cy="4206240"/>
          </a:xfrm>
          <a:prstGeom prst="roundRect">
            <a:avLst>
              <a:gd name="adj" fmla="val 5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2075687"/>
            <a:ext cx="2788920" cy="3840480"/>
          </a:xfrm>
          <a:prstGeom prst="rect">
            <a:avLst/>
          </a:prstGeom>
          <a:noFill/>
        </p:spPr>
        <p:txBody>
          <a:bodyPr wrap="square">
            <a:spAutoFit/>
          </a:bodyPr>
          <a:lstStyle/>
          <a:p>
            <a:pPr algn="l">
              <a:spcAft>
                <a:spcPts val="1200"/>
              </a:spcAft>
            </a:pPr>
            <a:r>
              <a:rPr sz="950" b="1" i="0" spc="80">
                <a:solidFill>
                  <a:srgbClr val="8A9187"/>
                </a:solidFill>
                <a:latin typeface="Consolas"/>
              </a:rPr>
              <a:t>OWNERSHIP</a:t>
            </a:r>
          </a:p>
          <a:p>
            <a:pPr>
              <a:spcAft>
                <a:spcPts val="200"/>
              </a:spcAft>
            </a:pPr>
            <a:r>
              <a:rPr sz="1050" b="0" i="0">
                <a:solidFill>
                  <a:srgbClr val="5A6459"/>
                </a:solidFill>
                <a:latin typeface="Verdana"/>
              </a:rPr>
              <a:t>Data structures</a:t>
            </a:r>
          </a:p>
          <a:p>
            <a:pPr>
              <a:lnSpc>
                <a:spcPct val="120000"/>
              </a:lnSpc>
              <a:spcAft>
                <a:spcPts val="1200"/>
              </a:spcAft>
            </a:pPr>
            <a:r>
              <a:rPr sz="1100" b="1" i="0">
                <a:solidFill>
                  <a:srgbClr val="1B2420"/>
                </a:solidFill>
                <a:latin typeface="Consolas"/>
              </a:rPr>
              <a:t>Sorted Linked List, Queue</a:t>
            </a:r>
          </a:p>
          <a:p>
            <a:pPr>
              <a:spcAft>
                <a:spcPts val="200"/>
              </a:spcAft>
            </a:pPr>
            <a:r>
              <a:rPr sz="1050" b="0" i="0">
                <a:solidFill>
                  <a:srgbClr val="5A6459"/>
                </a:solidFill>
                <a:latin typeface="Verdana"/>
              </a:rPr>
              <a:t>Pattern(s)</a:t>
            </a:r>
          </a:p>
          <a:p>
            <a:pPr>
              <a:lnSpc>
                <a:spcPct val="120000"/>
              </a:lnSpc>
              <a:spcAft>
                <a:spcPts val="1200"/>
              </a:spcAft>
            </a:pPr>
            <a:r>
              <a:rPr sz="1100" b="1" i="0">
                <a:solidFill>
                  <a:srgbClr val="1B2420"/>
                </a:solidFill>
                <a:latin typeface="Consolas"/>
              </a:rPr>
              <a:t>Facade</a:t>
            </a:r>
          </a:p>
          <a:p>
            <a:pPr>
              <a:spcAft>
                <a:spcPts val="200"/>
              </a:spcAft>
            </a:pPr>
            <a:r>
              <a:rPr sz="1050" b="0" i="0">
                <a:solidFill>
                  <a:srgbClr val="5A6459"/>
                </a:solidFill>
                <a:latin typeface="Verdana"/>
              </a:rPr>
              <a:t>Pipeline stage</a:t>
            </a:r>
          </a:p>
          <a:p>
            <a:pPr>
              <a:lnSpc>
                <a:spcPct val="120000"/>
              </a:lnSpc>
              <a:spcAft>
                <a:spcPts val="1200"/>
              </a:spcAft>
            </a:pPr>
            <a:r>
              <a:rPr sz="1100" b="1" i="0">
                <a:solidFill>
                  <a:srgbClr val="1B2420"/>
                </a:solidFill>
                <a:latin typeface="Consolas"/>
              </a:rPr>
              <a:t>Checkout &amp; Fulfilment</a:t>
            </a:r>
          </a:p>
          <a:p>
            <a:pPr>
              <a:spcAft>
                <a:spcPts val="200"/>
              </a:spcAft>
            </a:pPr>
            <a:r>
              <a:rPr sz="1050" b="0" i="0">
                <a:solidFill>
                  <a:srgbClr val="5A6459"/>
                </a:solidFill>
                <a:latin typeface="Verdana"/>
              </a:rPr>
              <a:t>Test files</a:t>
            </a:r>
          </a:p>
          <a:p>
            <a:pPr>
              <a:lnSpc>
                <a:spcPct val="120000"/>
              </a:lnSpc>
              <a:spcAft>
                <a:spcPts val="1200"/>
              </a:spcAft>
            </a:pPr>
            <a:r>
              <a:rPr sz="1100" b="1" i="0">
                <a:solidFill>
                  <a:srgbClr val="1B2420"/>
                </a:solidFill>
                <a:latin typeface="Consolas"/>
              </a:rPr>
              <a:t>test_shipping.py
test_orders.py</a:t>
            </a:r>
          </a:p>
          <a:p>
            <a:pPr>
              <a:lnSpc>
                <a:spcPct val="125000"/>
              </a:lnSpc>
              <a:spcAft>
                <a:spcPts val="0"/>
              </a:spcAft>
            </a:pPr>
            <a:r>
              <a:rPr sz="1100" b="1" i="0">
                <a:solidFill>
                  <a:srgbClr val="C6860A"/>
                </a:solidFill>
                <a:latin typeface="Verdana"/>
              </a:rPr>
              <a:t>6 automated cases + full manual
walkthrough of all 14 menu paths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100" b="1" i="0">
                <a:solidFill>
                  <a:srgbClr val="C6860A"/>
                </a:solidFill>
                <a:latin typeface="Consolas"/>
              </a:rPr>
              <a:t>●  </a:t>
            </a:r>
            <a:r>
              <a:rPr sz="1050" b="0" i="0" spc="120">
                <a:solidFill>
                  <a:srgbClr val="8A9187"/>
                </a:solidFill>
                <a:latin typeface="Consolas"/>
              </a:rPr>
              <a:t>06 · CROSS-CUTTING</a:t>
            </a:r>
          </a:p>
        </p:txBody>
      </p:sp>
      <p:sp>
        <p:nvSpPr>
          <p:cNvPr id="3" name="TextBox 2"/>
          <p:cNvSpPr txBox="1"/>
          <p:nvPr/>
        </p:nvSpPr>
        <p:spPr>
          <a:xfrm>
            <a:off x="10241280" y="320040"/>
            <a:ext cx="1280160" cy="365760"/>
          </a:xfrm>
          <a:prstGeom prst="rect">
            <a:avLst/>
          </a:prstGeom>
          <a:noFill/>
        </p:spPr>
        <p:txBody>
          <a:bodyPr wrap="square">
            <a:spAutoFit/>
          </a:bodyPr>
          <a:lstStyle/>
          <a:p>
            <a:pPr algn="r">
              <a:spcAft>
                <a:spcPts val="600"/>
              </a:spcAft>
            </a:pPr>
            <a:r>
              <a:rPr sz="1050" b="0" i="0" spc="80">
                <a:solidFill>
                  <a:srgbClr val="8A9187"/>
                </a:solidFill>
                <a:latin typeface="Consolas"/>
              </a:rPr>
              <a:t>09 / 12</a:t>
            </a:r>
          </a:p>
        </p:txBody>
      </p:sp>
      <p:sp>
        <p:nvSpPr>
          <p:cNvPr id="4" name="Rectangle 3"/>
          <p:cNvSpPr/>
          <p:nvPr/>
        </p:nvSpPr>
        <p:spPr>
          <a:xfrm>
            <a:off x="640080" y="713232"/>
            <a:ext cx="10908792"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9601200" cy="1005840"/>
          </a:xfrm>
          <a:prstGeom prst="rect">
            <a:avLst/>
          </a:prstGeom>
          <a:noFill/>
        </p:spPr>
        <p:txBody>
          <a:bodyPr wrap="square">
            <a:spAutoFit/>
          </a:bodyPr>
          <a:lstStyle/>
          <a:p>
            <a:pPr algn="l">
              <a:lnSpc>
                <a:spcPct val="105000"/>
              </a:lnSpc>
              <a:spcAft>
                <a:spcPts val="600"/>
              </a:spcAft>
            </a:pPr>
            <a:r>
              <a:rPr sz="2700" b="1" i="0">
                <a:solidFill>
                  <a:srgbClr val="1B2420"/>
                </a:solidFill>
                <a:latin typeface="Georgia"/>
              </a:rPr>
              <a:t>What all three own equally, on top of code</a:t>
            </a:r>
          </a:p>
        </p:txBody>
      </p:sp>
      <p:sp>
        <p:nvSpPr>
          <p:cNvPr id="6" name="TextBox 5"/>
          <p:cNvSpPr txBox="1"/>
          <p:nvPr/>
        </p:nvSpPr>
        <p:spPr>
          <a:xfrm>
            <a:off x="640080" y="1645920"/>
            <a:ext cx="10332720" cy="822960"/>
          </a:xfrm>
          <a:prstGeom prst="rect">
            <a:avLst/>
          </a:prstGeom>
          <a:noFill/>
        </p:spPr>
        <p:txBody>
          <a:bodyPr wrap="square">
            <a:spAutoFit/>
          </a:bodyPr>
          <a:lstStyle/>
          <a:p>
            <a:pPr algn="l">
              <a:lnSpc>
                <a:spcPct val="125000"/>
              </a:lnSpc>
              <a:spcAft>
                <a:spcPts val="600"/>
              </a:spcAft>
            </a:pPr>
            <a:r>
              <a:rPr sz="1300" b="0" i="0">
                <a:solidFill>
                  <a:srgbClr val="5A6459"/>
                </a:solidFill>
                <a:latin typeface="Verdana"/>
              </a:rPr>
              <a:t>Code ownership splits the implementation three ways — but 30% of the grade sits outside any one file, so it's built together, not handed to whoever has spare capacity.</a:t>
            </a:r>
          </a:p>
        </p:txBody>
      </p:sp>
      <p:sp>
        <p:nvSpPr>
          <p:cNvPr id="7" name="Rounded Rectangle 6"/>
          <p:cNvSpPr/>
          <p:nvPr/>
        </p:nvSpPr>
        <p:spPr>
          <a:xfrm>
            <a:off x="640080" y="2697480"/>
            <a:ext cx="2542032" cy="2011680"/>
          </a:xfrm>
          <a:prstGeom prst="roundRect">
            <a:avLst>
              <a:gd name="adj" fmla="val 6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880360"/>
            <a:ext cx="2176272" cy="1645920"/>
          </a:xfrm>
          <a:prstGeom prst="rect">
            <a:avLst/>
          </a:prstGeom>
          <a:noFill/>
        </p:spPr>
        <p:txBody>
          <a:bodyPr wrap="square">
            <a:spAutoFit/>
          </a:bodyPr>
          <a:lstStyle/>
          <a:p>
            <a:pPr algn="l">
              <a:spcAft>
                <a:spcPts val="600"/>
              </a:spcAft>
            </a:pPr>
            <a:r>
              <a:rPr sz="1300" b="1" i="0">
                <a:solidFill>
                  <a:srgbClr val="276B4C"/>
                </a:solidFill>
                <a:latin typeface="Consolas"/>
              </a:rPr>
              <a:t>10%</a:t>
            </a:r>
          </a:p>
          <a:p>
            <a:pPr algn="l">
              <a:spcAft>
                <a:spcPts val="600"/>
              </a:spcAft>
            </a:pPr>
            <a:r>
              <a:rPr sz="1450" b="1" i="0">
                <a:solidFill>
                  <a:srgbClr val="1B2420"/>
                </a:solidFill>
                <a:latin typeface="Georgia"/>
              </a:rPr>
              <a:t>UML class diagram</a:t>
            </a:r>
          </a:p>
          <a:p>
            <a:pPr algn="l">
              <a:lnSpc>
                <a:spcPct val="125000"/>
              </a:lnSpc>
              <a:spcAft>
                <a:spcPts val="600"/>
              </a:spcAft>
            </a:pPr>
            <a:r>
              <a:rPr sz="1050" b="0" i="0">
                <a:solidFill>
                  <a:srgbClr val="5A6459"/>
                </a:solidFill>
                <a:latin typeface="Verdana"/>
              </a:rPr>
              <a:t>Drawn jointly so every relationship between modules is agreed by all three.</a:t>
            </a:r>
          </a:p>
        </p:txBody>
      </p:sp>
      <p:sp>
        <p:nvSpPr>
          <p:cNvPr id="9" name="Rounded Rectangle 8"/>
          <p:cNvSpPr/>
          <p:nvPr/>
        </p:nvSpPr>
        <p:spPr>
          <a:xfrm>
            <a:off x="3291840" y="2697480"/>
            <a:ext cx="2542032" cy="2011680"/>
          </a:xfrm>
          <a:prstGeom prst="roundRect">
            <a:avLst>
              <a:gd name="adj" fmla="val 6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2880360"/>
            <a:ext cx="2176272" cy="1645920"/>
          </a:xfrm>
          <a:prstGeom prst="rect">
            <a:avLst/>
          </a:prstGeom>
          <a:noFill/>
        </p:spPr>
        <p:txBody>
          <a:bodyPr wrap="square">
            <a:spAutoFit/>
          </a:bodyPr>
          <a:lstStyle/>
          <a:p>
            <a:pPr algn="l">
              <a:spcAft>
                <a:spcPts val="600"/>
              </a:spcAft>
            </a:pPr>
            <a:r>
              <a:rPr sz="1300" b="1" i="0">
                <a:solidFill>
                  <a:srgbClr val="276B4C"/>
                </a:solidFill>
                <a:latin typeface="Consolas"/>
              </a:rPr>
              <a:t>10%</a:t>
            </a:r>
          </a:p>
          <a:p>
            <a:pPr algn="l">
              <a:spcAft>
                <a:spcPts val="600"/>
              </a:spcAft>
            </a:pPr>
            <a:r>
              <a:rPr sz="1450" b="1" i="0">
                <a:solidFill>
                  <a:srgbClr val="1B2420"/>
                </a:solidFill>
                <a:latin typeface="Georgia"/>
              </a:rPr>
              <a:t>Technical report</a:t>
            </a:r>
          </a:p>
          <a:p>
            <a:pPr algn="l">
              <a:lnSpc>
                <a:spcPct val="125000"/>
              </a:lnSpc>
              <a:spcAft>
                <a:spcPts val="600"/>
              </a:spcAft>
            </a:pPr>
            <a:r>
              <a:rPr sz="1050" b="0" i="0">
                <a:solidFill>
                  <a:srgbClr val="5A6459"/>
                </a:solidFill>
                <a:latin typeface="Verdana"/>
              </a:rPr>
              <a:t>Each person writes their own module section; architecture written together.</a:t>
            </a:r>
          </a:p>
        </p:txBody>
      </p:sp>
      <p:sp>
        <p:nvSpPr>
          <p:cNvPr id="11" name="Rounded Rectangle 10"/>
          <p:cNvSpPr/>
          <p:nvPr/>
        </p:nvSpPr>
        <p:spPr>
          <a:xfrm>
            <a:off x="5943600" y="2697480"/>
            <a:ext cx="2542032" cy="2011680"/>
          </a:xfrm>
          <a:prstGeom prst="roundRect">
            <a:avLst>
              <a:gd name="adj" fmla="val 6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2880360"/>
            <a:ext cx="2176272" cy="1645920"/>
          </a:xfrm>
          <a:prstGeom prst="rect">
            <a:avLst/>
          </a:prstGeom>
          <a:noFill/>
        </p:spPr>
        <p:txBody>
          <a:bodyPr wrap="square">
            <a:spAutoFit/>
          </a:bodyPr>
          <a:lstStyle/>
          <a:p>
            <a:pPr algn="l">
              <a:spcAft>
                <a:spcPts val="600"/>
              </a:spcAft>
            </a:pPr>
            <a:r>
              <a:rPr sz="1300" b="1" i="0">
                <a:solidFill>
                  <a:srgbClr val="276B4C"/>
                </a:solidFill>
                <a:latin typeface="Consolas"/>
              </a:rPr>
              <a:t>10%</a:t>
            </a:r>
          </a:p>
          <a:p>
            <a:pPr algn="l">
              <a:spcAft>
                <a:spcPts val="600"/>
              </a:spcAft>
            </a:pPr>
            <a:r>
              <a:rPr sz="1450" b="1" i="0">
                <a:solidFill>
                  <a:srgbClr val="1B2420"/>
                </a:solidFill>
                <a:latin typeface="Georgia"/>
              </a:rPr>
              <a:t>Git &amp; task board</a:t>
            </a:r>
          </a:p>
          <a:p>
            <a:pPr algn="l">
              <a:lnSpc>
                <a:spcPct val="125000"/>
              </a:lnSpc>
              <a:spcAft>
                <a:spcPts val="600"/>
              </a:spcAft>
            </a:pPr>
            <a:r>
              <a:rPr sz="1050" b="0" i="0">
                <a:solidFill>
                  <a:srgbClr val="5A6459"/>
                </a:solidFill>
                <a:latin typeface="Verdana"/>
              </a:rPr>
              <a:t>Every commit tied to its author's module; task board reflects the 3-way split.</a:t>
            </a:r>
          </a:p>
        </p:txBody>
      </p:sp>
      <p:sp>
        <p:nvSpPr>
          <p:cNvPr id="13" name="Rounded Rectangle 12"/>
          <p:cNvSpPr/>
          <p:nvPr/>
        </p:nvSpPr>
        <p:spPr>
          <a:xfrm>
            <a:off x="8595360" y="2697480"/>
            <a:ext cx="2542032" cy="2011680"/>
          </a:xfrm>
          <a:prstGeom prst="roundRect">
            <a:avLst>
              <a:gd name="adj" fmla="val 6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2880360"/>
            <a:ext cx="2176272" cy="1645920"/>
          </a:xfrm>
          <a:prstGeom prst="rect">
            <a:avLst/>
          </a:prstGeom>
          <a:noFill/>
        </p:spPr>
        <p:txBody>
          <a:bodyPr wrap="square">
            <a:spAutoFit/>
          </a:bodyPr>
          <a:lstStyle/>
          <a:p>
            <a:pPr algn="l">
              <a:spcAft>
                <a:spcPts val="600"/>
              </a:spcAft>
            </a:pPr>
            <a:r>
              <a:rPr sz="1300" b="1" i="0">
                <a:solidFill>
                  <a:srgbClr val="276B4C"/>
                </a:solidFill>
                <a:latin typeface="Consolas"/>
              </a:rPr>
              <a:t>—</a:t>
            </a:r>
          </a:p>
          <a:p>
            <a:pPr algn="l">
              <a:spcAft>
                <a:spcPts val="600"/>
              </a:spcAft>
            </a:pPr>
            <a:r>
              <a:rPr sz="1450" b="1" i="0">
                <a:solidFill>
                  <a:srgbClr val="1B2420"/>
                </a:solidFill>
                <a:latin typeface="Georgia"/>
              </a:rPr>
              <a:t>Q&amp;A prep</a:t>
            </a:r>
          </a:p>
          <a:p>
            <a:pPr algn="l">
              <a:lnSpc>
                <a:spcPct val="125000"/>
              </a:lnSpc>
              <a:spcAft>
                <a:spcPts val="600"/>
              </a:spcAft>
            </a:pPr>
            <a:r>
              <a:rPr sz="1050" b="0" i="0">
                <a:solidFill>
                  <a:srgbClr val="5A6459"/>
                </a:solidFill>
                <a:latin typeface="Verdana"/>
              </a:rPr>
              <a:t>Each person defends their own module first, but all three can answer the full system.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100" b="1" i="0">
                <a:solidFill>
                  <a:srgbClr val="C6860A"/>
                </a:solidFill>
                <a:latin typeface="Consolas"/>
              </a:rPr>
              <a:t>●  </a:t>
            </a:r>
            <a:r>
              <a:rPr sz="1050" b="0" i="0" spc="120">
                <a:solidFill>
                  <a:srgbClr val="8A9187"/>
                </a:solidFill>
                <a:latin typeface="Consolas"/>
              </a:rPr>
              <a:t>07 · VERIFICATION</a:t>
            </a:r>
          </a:p>
        </p:txBody>
      </p:sp>
      <p:sp>
        <p:nvSpPr>
          <p:cNvPr id="3" name="TextBox 2"/>
          <p:cNvSpPr txBox="1"/>
          <p:nvPr/>
        </p:nvSpPr>
        <p:spPr>
          <a:xfrm>
            <a:off x="10241280" y="320040"/>
            <a:ext cx="1280160" cy="365760"/>
          </a:xfrm>
          <a:prstGeom prst="rect">
            <a:avLst/>
          </a:prstGeom>
          <a:noFill/>
        </p:spPr>
        <p:txBody>
          <a:bodyPr wrap="square">
            <a:spAutoFit/>
          </a:bodyPr>
          <a:lstStyle/>
          <a:p>
            <a:pPr algn="r">
              <a:spcAft>
                <a:spcPts val="600"/>
              </a:spcAft>
            </a:pPr>
            <a:r>
              <a:rPr sz="1050" b="0" i="0" spc="80">
                <a:solidFill>
                  <a:srgbClr val="8A9187"/>
                </a:solidFill>
                <a:latin typeface="Consolas"/>
              </a:rPr>
              <a:t>10 / 12</a:t>
            </a:r>
          </a:p>
        </p:txBody>
      </p:sp>
      <p:sp>
        <p:nvSpPr>
          <p:cNvPr id="4" name="Rectangle 3"/>
          <p:cNvSpPr/>
          <p:nvPr/>
        </p:nvSpPr>
        <p:spPr>
          <a:xfrm>
            <a:off x="640080" y="713232"/>
            <a:ext cx="10908792"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9601200" cy="1005840"/>
          </a:xfrm>
          <a:prstGeom prst="rect">
            <a:avLst/>
          </a:prstGeom>
          <a:noFill/>
        </p:spPr>
        <p:txBody>
          <a:bodyPr wrap="square">
            <a:spAutoFit/>
          </a:bodyPr>
          <a:lstStyle/>
          <a:p>
            <a:pPr algn="l">
              <a:lnSpc>
                <a:spcPct val="105000"/>
              </a:lnSpc>
              <a:spcAft>
                <a:spcPts val="600"/>
              </a:spcAft>
            </a:pPr>
            <a:r>
              <a:rPr sz="2700" b="1" i="0">
                <a:solidFill>
                  <a:srgbClr val="1B2420"/>
                </a:solidFill>
                <a:latin typeface="Georgia"/>
              </a:rPr>
              <a:t>39 tests, one file per module — rubric asked for 10</a:t>
            </a:r>
          </a:p>
        </p:txBody>
      </p:sp>
      <p:sp>
        <p:nvSpPr>
          <p:cNvPr id="6" name="TextBox 5"/>
          <p:cNvSpPr txBox="1"/>
          <p:nvPr/>
        </p:nvSpPr>
        <p:spPr>
          <a:xfrm>
            <a:off x="640080" y="1920240"/>
            <a:ext cx="2194560" cy="365760"/>
          </a:xfrm>
          <a:prstGeom prst="rect">
            <a:avLst/>
          </a:prstGeom>
          <a:noFill/>
        </p:spPr>
        <p:txBody>
          <a:bodyPr wrap="square">
            <a:spAutoFit/>
          </a:bodyPr>
          <a:lstStyle/>
          <a:p>
            <a:pPr algn="l">
              <a:spcAft>
                <a:spcPts val="600"/>
              </a:spcAft>
            </a:pPr>
            <a:r>
              <a:rPr sz="1200" b="0" i="0">
                <a:solidFill>
                  <a:srgbClr val="5A6459"/>
                </a:solidFill>
                <a:latin typeface="Consolas"/>
              </a:rPr>
              <a:t>test_cart.py</a:t>
            </a:r>
          </a:p>
        </p:txBody>
      </p:sp>
      <p:sp>
        <p:nvSpPr>
          <p:cNvPr id="7" name="Rounded Rectangle 6"/>
          <p:cNvSpPr/>
          <p:nvPr/>
        </p:nvSpPr>
        <p:spPr>
          <a:xfrm>
            <a:off x="2971800" y="1965960"/>
            <a:ext cx="6583680" cy="256032"/>
          </a:xfrm>
          <a:prstGeom prst="roundRect">
            <a:avLst>
              <a:gd name="adj" fmla="val 50000"/>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71800" y="1965960"/>
            <a:ext cx="6583680" cy="256032"/>
          </a:xfrm>
          <a:prstGeom prst="roundRect">
            <a:avLst>
              <a:gd name="adj" fmla="val 50000"/>
            </a:avLst>
          </a:prstGeom>
          <a:solidFill>
            <a:srgbClr val="AD57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920240"/>
            <a:ext cx="548640" cy="365760"/>
          </a:xfrm>
          <a:prstGeom prst="rect">
            <a:avLst/>
          </a:prstGeom>
          <a:noFill/>
        </p:spPr>
        <p:txBody>
          <a:bodyPr wrap="square">
            <a:spAutoFit/>
          </a:bodyPr>
          <a:lstStyle/>
          <a:p>
            <a:pPr algn="l">
              <a:spcAft>
                <a:spcPts val="600"/>
              </a:spcAft>
            </a:pPr>
            <a:r>
              <a:rPr sz="1200" b="1" i="0">
                <a:solidFill>
                  <a:srgbClr val="1B2420"/>
                </a:solidFill>
                <a:latin typeface="Consolas"/>
              </a:rPr>
              <a:t>10</a:t>
            </a:r>
          </a:p>
        </p:txBody>
      </p:sp>
      <p:sp>
        <p:nvSpPr>
          <p:cNvPr id="10" name="TextBox 9"/>
          <p:cNvSpPr txBox="1"/>
          <p:nvPr/>
        </p:nvSpPr>
        <p:spPr>
          <a:xfrm>
            <a:off x="640080" y="2487168"/>
            <a:ext cx="2194560" cy="365760"/>
          </a:xfrm>
          <a:prstGeom prst="rect">
            <a:avLst/>
          </a:prstGeom>
          <a:noFill/>
        </p:spPr>
        <p:txBody>
          <a:bodyPr wrap="square">
            <a:spAutoFit/>
          </a:bodyPr>
          <a:lstStyle/>
          <a:p>
            <a:pPr algn="l">
              <a:spcAft>
                <a:spcPts val="600"/>
              </a:spcAft>
            </a:pPr>
            <a:r>
              <a:rPr sz="1200" b="0" i="0">
                <a:solidFill>
                  <a:srgbClr val="5A6459"/>
                </a:solidFill>
                <a:latin typeface="Consolas"/>
              </a:rPr>
              <a:t>test_catalogue.py</a:t>
            </a:r>
          </a:p>
        </p:txBody>
      </p:sp>
      <p:sp>
        <p:nvSpPr>
          <p:cNvPr id="11" name="Rounded Rectangle 10"/>
          <p:cNvSpPr/>
          <p:nvPr/>
        </p:nvSpPr>
        <p:spPr>
          <a:xfrm>
            <a:off x="2971800" y="2532888"/>
            <a:ext cx="6583680" cy="256032"/>
          </a:xfrm>
          <a:prstGeom prst="roundRect">
            <a:avLst>
              <a:gd name="adj" fmla="val 50000"/>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71800" y="2532888"/>
            <a:ext cx="5925312" cy="256032"/>
          </a:xfrm>
          <a:prstGeom prst="roundRect">
            <a:avLst>
              <a:gd name="adj" fmla="val 50000"/>
            </a:avLst>
          </a:prstGeom>
          <a:solidFill>
            <a:srgbClr val="2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0" y="2487168"/>
            <a:ext cx="548640" cy="365760"/>
          </a:xfrm>
          <a:prstGeom prst="rect">
            <a:avLst/>
          </a:prstGeom>
          <a:noFill/>
        </p:spPr>
        <p:txBody>
          <a:bodyPr wrap="square">
            <a:spAutoFit/>
          </a:bodyPr>
          <a:lstStyle/>
          <a:p>
            <a:pPr algn="l">
              <a:spcAft>
                <a:spcPts val="600"/>
              </a:spcAft>
            </a:pPr>
            <a:r>
              <a:rPr sz="1200" b="1" i="0">
                <a:solidFill>
                  <a:srgbClr val="1B2420"/>
                </a:solidFill>
                <a:latin typeface="Consolas"/>
              </a:rPr>
              <a:t>9</a:t>
            </a:r>
          </a:p>
        </p:txBody>
      </p:sp>
      <p:sp>
        <p:nvSpPr>
          <p:cNvPr id="14" name="TextBox 13"/>
          <p:cNvSpPr txBox="1"/>
          <p:nvPr/>
        </p:nvSpPr>
        <p:spPr>
          <a:xfrm>
            <a:off x="640080" y="3054096"/>
            <a:ext cx="2194560" cy="365760"/>
          </a:xfrm>
          <a:prstGeom prst="rect">
            <a:avLst/>
          </a:prstGeom>
          <a:noFill/>
        </p:spPr>
        <p:txBody>
          <a:bodyPr wrap="square">
            <a:spAutoFit/>
          </a:bodyPr>
          <a:lstStyle/>
          <a:p>
            <a:pPr algn="l">
              <a:spcAft>
                <a:spcPts val="600"/>
              </a:spcAft>
            </a:pPr>
            <a:r>
              <a:rPr sz="1200" b="0" i="0">
                <a:solidFill>
                  <a:srgbClr val="5A6459"/>
                </a:solidFill>
                <a:latin typeface="Consolas"/>
              </a:rPr>
              <a:t>test_models.py</a:t>
            </a:r>
          </a:p>
        </p:txBody>
      </p:sp>
      <p:sp>
        <p:nvSpPr>
          <p:cNvPr id="15" name="Rounded Rectangle 14"/>
          <p:cNvSpPr/>
          <p:nvPr/>
        </p:nvSpPr>
        <p:spPr>
          <a:xfrm>
            <a:off x="2971800" y="3099816"/>
            <a:ext cx="6583680" cy="256032"/>
          </a:xfrm>
          <a:prstGeom prst="roundRect">
            <a:avLst>
              <a:gd name="adj" fmla="val 50000"/>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971800" y="3099816"/>
            <a:ext cx="5266944" cy="256032"/>
          </a:xfrm>
          <a:prstGeom prst="roundRect">
            <a:avLst>
              <a:gd name="adj" fmla="val 50000"/>
            </a:avLst>
          </a:prstGeom>
          <a:solidFill>
            <a:srgbClr val="2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0" y="3054096"/>
            <a:ext cx="548640" cy="365760"/>
          </a:xfrm>
          <a:prstGeom prst="rect">
            <a:avLst/>
          </a:prstGeom>
          <a:noFill/>
        </p:spPr>
        <p:txBody>
          <a:bodyPr wrap="square">
            <a:spAutoFit/>
          </a:bodyPr>
          <a:lstStyle/>
          <a:p>
            <a:pPr algn="l">
              <a:spcAft>
                <a:spcPts val="600"/>
              </a:spcAft>
            </a:pPr>
            <a:r>
              <a:rPr sz="1200" b="1" i="0">
                <a:solidFill>
                  <a:srgbClr val="1B2420"/>
                </a:solidFill>
                <a:latin typeface="Consolas"/>
              </a:rPr>
              <a:t>8</a:t>
            </a:r>
          </a:p>
        </p:txBody>
      </p:sp>
      <p:sp>
        <p:nvSpPr>
          <p:cNvPr id="18" name="TextBox 17"/>
          <p:cNvSpPr txBox="1"/>
          <p:nvPr/>
        </p:nvSpPr>
        <p:spPr>
          <a:xfrm>
            <a:off x="640080" y="3621024"/>
            <a:ext cx="2194560" cy="365760"/>
          </a:xfrm>
          <a:prstGeom prst="rect">
            <a:avLst/>
          </a:prstGeom>
          <a:noFill/>
        </p:spPr>
        <p:txBody>
          <a:bodyPr wrap="square">
            <a:spAutoFit/>
          </a:bodyPr>
          <a:lstStyle/>
          <a:p>
            <a:pPr algn="l">
              <a:spcAft>
                <a:spcPts val="600"/>
              </a:spcAft>
            </a:pPr>
            <a:r>
              <a:rPr sz="1200" b="0" i="0">
                <a:solidFill>
                  <a:srgbClr val="5A6459"/>
                </a:solidFill>
                <a:latin typeface="Consolas"/>
              </a:rPr>
              <a:t>test_discounts.py</a:t>
            </a:r>
          </a:p>
        </p:txBody>
      </p:sp>
      <p:sp>
        <p:nvSpPr>
          <p:cNvPr id="19" name="Rounded Rectangle 18"/>
          <p:cNvSpPr/>
          <p:nvPr/>
        </p:nvSpPr>
        <p:spPr>
          <a:xfrm>
            <a:off x="2971800" y="3666744"/>
            <a:ext cx="6583680" cy="256032"/>
          </a:xfrm>
          <a:prstGeom prst="roundRect">
            <a:avLst>
              <a:gd name="adj" fmla="val 50000"/>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971800" y="3666744"/>
            <a:ext cx="3950208" cy="256032"/>
          </a:xfrm>
          <a:prstGeom prst="roundRect">
            <a:avLst>
              <a:gd name="adj" fmla="val 50000"/>
            </a:avLst>
          </a:prstGeom>
          <a:solidFill>
            <a:srgbClr val="AD57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0" y="3621024"/>
            <a:ext cx="548640" cy="365760"/>
          </a:xfrm>
          <a:prstGeom prst="rect">
            <a:avLst/>
          </a:prstGeom>
          <a:noFill/>
        </p:spPr>
        <p:txBody>
          <a:bodyPr wrap="square">
            <a:spAutoFit/>
          </a:bodyPr>
          <a:lstStyle/>
          <a:p>
            <a:pPr algn="l">
              <a:spcAft>
                <a:spcPts val="600"/>
              </a:spcAft>
            </a:pPr>
            <a:r>
              <a:rPr sz="1200" b="1" i="0">
                <a:solidFill>
                  <a:srgbClr val="1B2420"/>
                </a:solidFill>
                <a:latin typeface="Consolas"/>
              </a:rPr>
              <a:t>6</a:t>
            </a:r>
          </a:p>
        </p:txBody>
      </p:sp>
      <p:sp>
        <p:nvSpPr>
          <p:cNvPr id="22" name="TextBox 21"/>
          <p:cNvSpPr txBox="1"/>
          <p:nvPr/>
        </p:nvSpPr>
        <p:spPr>
          <a:xfrm>
            <a:off x="640080" y="4187952"/>
            <a:ext cx="2194560" cy="365760"/>
          </a:xfrm>
          <a:prstGeom prst="rect">
            <a:avLst/>
          </a:prstGeom>
          <a:noFill/>
        </p:spPr>
        <p:txBody>
          <a:bodyPr wrap="square">
            <a:spAutoFit/>
          </a:bodyPr>
          <a:lstStyle/>
          <a:p>
            <a:pPr algn="l">
              <a:spcAft>
                <a:spcPts val="600"/>
              </a:spcAft>
            </a:pPr>
            <a:r>
              <a:rPr sz="1200" b="0" i="0">
                <a:solidFill>
                  <a:srgbClr val="5A6459"/>
                </a:solidFill>
                <a:latin typeface="Consolas"/>
              </a:rPr>
              <a:t>test_shipping.py</a:t>
            </a:r>
          </a:p>
        </p:txBody>
      </p:sp>
      <p:sp>
        <p:nvSpPr>
          <p:cNvPr id="23" name="Rounded Rectangle 22"/>
          <p:cNvSpPr/>
          <p:nvPr/>
        </p:nvSpPr>
        <p:spPr>
          <a:xfrm>
            <a:off x="2971800" y="4233672"/>
            <a:ext cx="6583680" cy="256032"/>
          </a:xfrm>
          <a:prstGeom prst="roundRect">
            <a:avLst>
              <a:gd name="adj" fmla="val 50000"/>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71800" y="4233672"/>
            <a:ext cx="1975104" cy="256032"/>
          </a:xfrm>
          <a:prstGeom prst="roundRect">
            <a:avLst>
              <a:gd name="adj" fmla="val 50000"/>
            </a:avLst>
          </a:prstGeom>
          <a:solidFill>
            <a:srgbClr val="C68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0" y="4187952"/>
            <a:ext cx="548640" cy="365760"/>
          </a:xfrm>
          <a:prstGeom prst="rect">
            <a:avLst/>
          </a:prstGeom>
          <a:noFill/>
        </p:spPr>
        <p:txBody>
          <a:bodyPr wrap="square">
            <a:spAutoFit/>
          </a:bodyPr>
          <a:lstStyle/>
          <a:p>
            <a:pPr algn="l">
              <a:spcAft>
                <a:spcPts val="600"/>
              </a:spcAft>
            </a:pPr>
            <a:r>
              <a:rPr sz="1200" b="1" i="0">
                <a:solidFill>
                  <a:srgbClr val="1B2420"/>
                </a:solidFill>
                <a:latin typeface="Consolas"/>
              </a:rPr>
              <a:t>3</a:t>
            </a:r>
          </a:p>
        </p:txBody>
      </p:sp>
      <p:sp>
        <p:nvSpPr>
          <p:cNvPr id="26" name="TextBox 25"/>
          <p:cNvSpPr txBox="1"/>
          <p:nvPr/>
        </p:nvSpPr>
        <p:spPr>
          <a:xfrm>
            <a:off x="640080" y="4754880"/>
            <a:ext cx="2194560" cy="365760"/>
          </a:xfrm>
          <a:prstGeom prst="rect">
            <a:avLst/>
          </a:prstGeom>
          <a:noFill/>
        </p:spPr>
        <p:txBody>
          <a:bodyPr wrap="square">
            <a:spAutoFit/>
          </a:bodyPr>
          <a:lstStyle/>
          <a:p>
            <a:pPr algn="l">
              <a:spcAft>
                <a:spcPts val="600"/>
              </a:spcAft>
            </a:pPr>
            <a:r>
              <a:rPr sz="1200" b="0" i="0">
                <a:solidFill>
                  <a:srgbClr val="5A6459"/>
                </a:solidFill>
                <a:latin typeface="Consolas"/>
              </a:rPr>
              <a:t>test_orders.py</a:t>
            </a:r>
          </a:p>
        </p:txBody>
      </p:sp>
      <p:sp>
        <p:nvSpPr>
          <p:cNvPr id="27" name="Rounded Rectangle 26"/>
          <p:cNvSpPr/>
          <p:nvPr/>
        </p:nvSpPr>
        <p:spPr>
          <a:xfrm>
            <a:off x="2971800" y="4800600"/>
            <a:ext cx="6583680" cy="256032"/>
          </a:xfrm>
          <a:prstGeom prst="roundRect">
            <a:avLst>
              <a:gd name="adj" fmla="val 50000"/>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971800" y="4800600"/>
            <a:ext cx="1975104" cy="256032"/>
          </a:xfrm>
          <a:prstGeom prst="roundRect">
            <a:avLst>
              <a:gd name="adj" fmla="val 50000"/>
            </a:avLst>
          </a:prstGeom>
          <a:solidFill>
            <a:srgbClr val="C68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0" y="4754880"/>
            <a:ext cx="548640" cy="365760"/>
          </a:xfrm>
          <a:prstGeom prst="rect">
            <a:avLst/>
          </a:prstGeom>
          <a:noFill/>
        </p:spPr>
        <p:txBody>
          <a:bodyPr wrap="square">
            <a:spAutoFit/>
          </a:bodyPr>
          <a:lstStyle/>
          <a:p>
            <a:pPr algn="l">
              <a:spcAft>
                <a:spcPts val="600"/>
              </a:spcAft>
            </a:pPr>
            <a:r>
              <a:rPr sz="1200" b="1" i="0">
                <a:solidFill>
                  <a:srgbClr val="1B2420"/>
                </a:solidFill>
                <a:latin typeface="Consolas"/>
              </a:rPr>
              <a:t>3</a:t>
            </a:r>
          </a:p>
        </p:txBody>
      </p:sp>
      <p:sp>
        <p:nvSpPr>
          <p:cNvPr id="30" name="Rounded Rectangle 29"/>
          <p:cNvSpPr/>
          <p:nvPr/>
        </p:nvSpPr>
        <p:spPr>
          <a:xfrm>
            <a:off x="640080" y="5623560"/>
            <a:ext cx="10058400" cy="685800"/>
          </a:xfrm>
          <a:prstGeom prst="roundRect">
            <a:avLst>
              <a:gd name="adj" fmla="val 8000"/>
            </a:avLst>
          </a:prstGeom>
          <a:solidFill>
            <a:srgbClr val="1B2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779008"/>
            <a:ext cx="9601200" cy="457200"/>
          </a:xfrm>
          <a:prstGeom prst="rect">
            <a:avLst/>
          </a:prstGeom>
          <a:noFill/>
        </p:spPr>
        <p:txBody>
          <a:bodyPr wrap="square">
            <a:spAutoFit/>
          </a:bodyPr>
          <a:lstStyle/>
          <a:p>
            <a:pPr algn="l">
              <a:spcAft>
                <a:spcPts val="600"/>
              </a:spcAft>
            </a:pPr>
            <a:r>
              <a:rPr sz="1100" b="0" i="0">
                <a:solidFill>
                  <a:srgbClr val="EEF1EA"/>
                </a:solidFill>
                <a:latin typeface="Consolas"/>
              </a:rPr>
              <a:t>Framework: Python's built-in unittest.  Whole suite:  python3 -m unittest discover -s tests -t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100" b="1" i="0">
                <a:solidFill>
                  <a:srgbClr val="C6860A"/>
                </a:solidFill>
                <a:latin typeface="Consolas"/>
              </a:rPr>
              <a:t>●  </a:t>
            </a:r>
            <a:r>
              <a:rPr sz="1050" b="0" i="0" spc="120">
                <a:solidFill>
                  <a:srgbClr val="8A9187"/>
                </a:solidFill>
                <a:latin typeface="Consolas"/>
              </a:rPr>
              <a:t>08 · RUBRIC MAP</a:t>
            </a:r>
          </a:p>
        </p:txBody>
      </p:sp>
      <p:sp>
        <p:nvSpPr>
          <p:cNvPr id="3" name="TextBox 2"/>
          <p:cNvSpPr txBox="1"/>
          <p:nvPr/>
        </p:nvSpPr>
        <p:spPr>
          <a:xfrm>
            <a:off x="10241280" y="320040"/>
            <a:ext cx="1280160" cy="365760"/>
          </a:xfrm>
          <a:prstGeom prst="rect">
            <a:avLst/>
          </a:prstGeom>
          <a:noFill/>
        </p:spPr>
        <p:txBody>
          <a:bodyPr wrap="square">
            <a:spAutoFit/>
          </a:bodyPr>
          <a:lstStyle/>
          <a:p>
            <a:pPr algn="r">
              <a:spcAft>
                <a:spcPts val="600"/>
              </a:spcAft>
            </a:pPr>
            <a:r>
              <a:rPr sz="1050" b="0" i="0" spc="80">
                <a:solidFill>
                  <a:srgbClr val="8A9187"/>
                </a:solidFill>
                <a:latin typeface="Consolas"/>
              </a:rPr>
              <a:t>11 / 12</a:t>
            </a:r>
          </a:p>
        </p:txBody>
      </p:sp>
      <p:sp>
        <p:nvSpPr>
          <p:cNvPr id="4" name="Rectangle 3"/>
          <p:cNvSpPr/>
          <p:nvPr/>
        </p:nvSpPr>
        <p:spPr>
          <a:xfrm>
            <a:off x="640080" y="713232"/>
            <a:ext cx="10908792"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9601200" cy="1005840"/>
          </a:xfrm>
          <a:prstGeom prst="rect">
            <a:avLst/>
          </a:prstGeom>
          <a:noFill/>
        </p:spPr>
        <p:txBody>
          <a:bodyPr wrap="square">
            <a:spAutoFit/>
          </a:bodyPr>
          <a:lstStyle/>
          <a:p>
            <a:pPr algn="l">
              <a:lnSpc>
                <a:spcPct val="105000"/>
              </a:lnSpc>
              <a:spcAft>
                <a:spcPts val="600"/>
              </a:spcAft>
            </a:pPr>
            <a:r>
              <a:rPr sz="3000" b="1" i="0">
                <a:solidFill>
                  <a:srgbClr val="1B2420"/>
                </a:solidFill>
                <a:latin typeface="Georgia"/>
              </a:rPr>
              <a:t>Where every mark comes from</a:t>
            </a:r>
          </a:p>
        </p:txBody>
      </p:sp>
      <p:sp>
        <p:nvSpPr>
          <p:cNvPr id="6" name="TextBox 5"/>
          <p:cNvSpPr txBox="1"/>
          <p:nvPr/>
        </p:nvSpPr>
        <p:spPr>
          <a:xfrm>
            <a:off x="640080" y="1783080"/>
            <a:ext cx="6766560" cy="365760"/>
          </a:xfrm>
          <a:prstGeom prst="rect">
            <a:avLst/>
          </a:prstGeom>
          <a:noFill/>
        </p:spPr>
        <p:txBody>
          <a:bodyPr wrap="square">
            <a:spAutoFit/>
          </a:bodyPr>
          <a:lstStyle/>
          <a:p>
            <a:pPr algn="l">
              <a:spcAft>
                <a:spcPts val="600"/>
              </a:spcAft>
            </a:pPr>
            <a:r>
              <a:rPr sz="1000" b="1" i="0" spc="60">
                <a:solidFill>
                  <a:srgbClr val="8A9187"/>
                </a:solidFill>
                <a:latin typeface="Consolas"/>
              </a:rPr>
              <a:t>Criteria</a:t>
            </a:r>
          </a:p>
        </p:txBody>
      </p:sp>
      <p:sp>
        <p:nvSpPr>
          <p:cNvPr id="7" name="TextBox 6"/>
          <p:cNvSpPr txBox="1"/>
          <p:nvPr/>
        </p:nvSpPr>
        <p:spPr>
          <a:xfrm>
            <a:off x="7406640" y="1783080"/>
            <a:ext cx="1463040" cy="365760"/>
          </a:xfrm>
          <a:prstGeom prst="rect">
            <a:avLst/>
          </a:prstGeom>
          <a:noFill/>
        </p:spPr>
        <p:txBody>
          <a:bodyPr wrap="square">
            <a:spAutoFit/>
          </a:bodyPr>
          <a:lstStyle/>
          <a:p>
            <a:pPr algn="l">
              <a:spcAft>
                <a:spcPts val="600"/>
              </a:spcAft>
            </a:pPr>
            <a:r>
              <a:rPr sz="1000" b="1" i="0" spc="60">
                <a:solidFill>
                  <a:srgbClr val="8A9187"/>
                </a:solidFill>
                <a:latin typeface="Consolas"/>
              </a:rPr>
              <a:t>Marks</a:t>
            </a:r>
          </a:p>
        </p:txBody>
      </p:sp>
      <p:sp>
        <p:nvSpPr>
          <p:cNvPr id="8" name="TextBox 7"/>
          <p:cNvSpPr txBox="1"/>
          <p:nvPr/>
        </p:nvSpPr>
        <p:spPr>
          <a:xfrm>
            <a:off x="8869680" y="1783080"/>
            <a:ext cx="2377440" cy="365760"/>
          </a:xfrm>
          <a:prstGeom prst="rect">
            <a:avLst/>
          </a:prstGeom>
          <a:noFill/>
        </p:spPr>
        <p:txBody>
          <a:bodyPr wrap="square">
            <a:spAutoFit/>
          </a:bodyPr>
          <a:lstStyle/>
          <a:p>
            <a:pPr algn="l">
              <a:spcAft>
                <a:spcPts val="600"/>
              </a:spcAft>
            </a:pPr>
            <a:r>
              <a:rPr sz="1000" b="1" i="0" spc="60">
                <a:solidFill>
                  <a:srgbClr val="8A9187"/>
                </a:solidFill>
                <a:latin typeface="Consolas"/>
              </a:rPr>
              <a:t>Primary owner</a:t>
            </a:r>
          </a:p>
        </p:txBody>
      </p:sp>
      <p:sp>
        <p:nvSpPr>
          <p:cNvPr id="9" name="Rectangle 8"/>
          <p:cNvSpPr/>
          <p:nvPr/>
        </p:nvSpPr>
        <p:spPr>
          <a:xfrm>
            <a:off x="640080" y="2130552"/>
            <a:ext cx="10607040" cy="15875"/>
          </a:xfrm>
          <a:prstGeom prst="rect">
            <a:avLst/>
          </a:prstGeom>
          <a:solidFill>
            <a:srgbClr val="1B2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40280"/>
            <a:ext cx="6766560" cy="502920"/>
          </a:xfrm>
          <a:prstGeom prst="rect">
            <a:avLst/>
          </a:prstGeom>
          <a:noFill/>
        </p:spPr>
        <p:txBody>
          <a:bodyPr wrap="square">
            <a:spAutoFit/>
          </a:bodyPr>
          <a:lstStyle/>
          <a:p>
            <a:pPr algn="l">
              <a:spcAft>
                <a:spcPts val="600"/>
              </a:spcAft>
            </a:pPr>
            <a:r>
              <a:rPr sz="1250" b="0" i="0">
                <a:solidFill>
                  <a:srgbClr val="1B2420"/>
                </a:solidFill>
                <a:latin typeface="Verdana"/>
              </a:rPr>
              <a:t>Six data structures</a:t>
            </a:r>
          </a:p>
        </p:txBody>
      </p:sp>
      <p:sp>
        <p:nvSpPr>
          <p:cNvPr id="11" name="TextBox 10"/>
          <p:cNvSpPr txBox="1"/>
          <p:nvPr/>
        </p:nvSpPr>
        <p:spPr>
          <a:xfrm>
            <a:off x="7406640" y="2240280"/>
            <a:ext cx="1463040" cy="502920"/>
          </a:xfrm>
          <a:prstGeom prst="rect">
            <a:avLst/>
          </a:prstGeom>
          <a:noFill/>
        </p:spPr>
        <p:txBody>
          <a:bodyPr wrap="square">
            <a:spAutoFit/>
          </a:bodyPr>
          <a:lstStyle/>
          <a:p>
            <a:pPr algn="l">
              <a:spcAft>
                <a:spcPts val="600"/>
              </a:spcAft>
            </a:pPr>
            <a:r>
              <a:rPr sz="1250" b="0" i="0">
                <a:solidFill>
                  <a:srgbClr val="5A6459"/>
                </a:solidFill>
                <a:latin typeface="Consolas"/>
              </a:rPr>
              <a:t>25</a:t>
            </a:r>
          </a:p>
        </p:txBody>
      </p:sp>
      <p:sp>
        <p:nvSpPr>
          <p:cNvPr id="12" name="TextBox 11"/>
          <p:cNvSpPr txBox="1"/>
          <p:nvPr/>
        </p:nvSpPr>
        <p:spPr>
          <a:xfrm>
            <a:off x="8869680" y="2240280"/>
            <a:ext cx="2377440" cy="502920"/>
          </a:xfrm>
          <a:prstGeom prst="rect">
            <a:avLst/>
          </a:prstGeom>
          <a:noFill/>
        </p:spPr>
        <p:txBody>
          <a:bodyPr wrap="square">
            <a:spAutoFit/>
          </a:bodyPr>
          <a:lstStyle/>
          <a:p>
            <a:pPr algn="l">
              <a:spcAft>
                <a:spcPts val="600"/>
              </a:spcAft>
            </a:pPr>
            <a:r>
              <a:rPr sz="1150" b="1" i="0">
                <a:solidFill>
                  <a:srgbClr val="C6860A"/>
                </a:solidFill>
                <a:latin typeface="Consolas"/>
              </a:rPr>
              <a:t>Parth · Dhruv · Sahil</a:t>
            </a:r>
          </a:p>
        </p:txBody>
      </p:sp>
      <p:sp>
        <p:nvSpPr>
          <p:cNvPr id="13" name="Rectangle 12"/>
          <p:cNvSpPr/>
          <p:nvPr/>
        </p:nvSpPr>
        <p:spPr>
          <a:xfrm>
            <a:off x="640080" y="2717800"/>
            <a:ext cx="10607040"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794000"/>
            <a:ext cx="6766560" cy="502920"/>
          </a:xfrm>
          <a:prstGeom prst="rect">
            <a:avLst/>
          </a:prstGeom>
          <a:noFill/>
        </p:spPr>
        <p:txBody>
          <a:bodyPr wrap="square">
            <a:spAutoFit/>
          </a:bodyPr>
          <a:lstStyle/>
          <a:p>
            <a:pPr algn="l">
              <a:spcAft>
                <a:spcPts val="600"/>
              </a:spcAft>
            </a:pPr>
            <a:r>
              <a:rPr sz="1250" b="0" i="0">
                <a:solidFill>
                  <a:srgbClr val="1B2420"/>
                </a:solidFill>
                <a:latin typeface="Verdana"/>
              </a:rPr>
              <a:t>Four design patterns</a:t>
            </a:r>
          </a:p>
        </p:txBody>
      </p:sp>
      <p:sp>
        <p:nvSpPr>
          <p:cNvPr id="15" name="TextBox 14"/>
          <p:cNvSpPr txBox="1"/>
          <p:nvPr/>
        </p:nvSpPr>
        <p:spPr>
          <a:xfrm>
            <a:off x="7406640" y="2794000"/>
            <a:ext cx="1463040" cy="502920"/>
          </a:xfrm>
          <a:prstGeom prst="rect">
            <a:avLst/>
          </a:prstGeom>
          <a:noFill/>
        </p:spPr>
        <p:txBody>
          <a:bodyPr wrap="square">
            <a:spAutoFit/>
          </a:bodyPr>
          <a:lstStyle/>
          <a:p>
            <a:pPr algn="l">
              <a:spcAft>
                <a:spcPts val="600"/>
              </a:spcAft>
            </a:pPr>
            <a:r>
              <a:rPr sz="1250" b="0" i="0">
                <a:solidFill>
                  <a:srgbClr val="5A6459"/>
                </a:solidFill>
                <a:latin typeface="Consolas"/>
              </a:rPr>
              <a:t>25</a:t>
            </a:r>
          </a:p>
        </p:txBody>
      </p:sp>
      <p:sp>
        <p:nvSpPr>
          <p:cNvPr id="16" name="TextBox 15"/>
          <p:cNvSpPr txBox="1"/>
          <p:nvPr/>
        </p:nvSpPr>
        <p:spPr>
          <a:xfrm>
            <a:off x="8869680" y="2794000"/>
            <a:ext cx="2377440" cy="502920"/>
          </a:xfrm>
          <a:prstGeom prst="rect">
            <a:avLst/>
          </a:prstGeom>
          <a:noFill/>
        </p:spPr>
        <p:txBody>
          <a:bodyPr wrap="square">
            <a:spAutoFit/>
          </a:bodyPr>
          <a:lstStyle/>
          <a:p>
            <a:pPr algn="l">
              <a:spcAft>
                <a:spcPts val="600"/>
              </a:spcAft>
            </a:pPr>
            <a:r>
              <a:rPr sz="1150" b="1" i="0">
                <a:solidFill>
                  <a:srgbClr val="C6860A"/>
                </a:solidFill>
                <a:latin typeface="Consolas"/>
              </a:rPr>
              <a:t>Parth · Dhruv · Sahil</a:t>
            </a:r>
          </a:p>
        </p:txBody>
      </p:sp>
      <p:sp>
        <p:nvSpPr>
          <p:cNvPr id="17" name="Rectangle 16"/>
          <p:cNvSpPr/>
          <p:nvPr/>
        </p:nvSpPr>
        <p:spPr>
          <a:xfrm>
            <a:off x="640080" y="3271520"/>
            <a:ext cx="10607040"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347720"/>
            <a:ext cx="6766560" cy="502920"/>
          </a:xfrm>
          <a:prstGeom prst="rect">
            <a:avLst/>
          </a:prstGeom>
          <a:noFill/>
        </p:spPr>
        <p:txBody>
          <a:bodyPr wrap="square">
            <a:spAutoFit/>
          </a:bodyPr>
          <a:lstStyle/>
          <a:p>
            <a:pPr algn="l">
              <a:spcAft>
                <a:spcPts val="600"/>
              </a:spcAft>
            </a:pPr>
            <a:r>
              <a:rPr sz="1250" b="0" i="0">
                <a:solidFill>
                  <a:srgbClr val="1B2420"/>
                </a:solidFill>
                <a:latin typeface="Verdana"/>
              </a:rPr>
              <a:t>Code quality (SOLID, naming, modularity)</a:t>
            </a:r>
          </a:p>
        </p:txBody>
      </p:sp>
      <p:sp>
        <p:nvSpPr>
          <p:cNvPr id="19" name="TextBox 18"/>
          <p:cNvSpPr txBox="1"/>
          <p:nvPr/>
        </p:nvSpPr>
        <p:spPr>
          <a:xfrm>
            <a:off x="7406640" y="3347720"/>
            <a:ext cx="1463040" cy="502920"/>
          </a:xfrm>
          <a:prstGeom prst="rect">
            <a:avLst/>
          </a:prstGeom>
          <a:noFill/>
        </p:spPr>
        <p:txBody>
          <a:bodyPr wrap="square">
            <a:spAutoFit/>
          </a:bodyPr>
          <a:lstStyle/>
          <a:p>
            <a:pPr algn="l">
              <a:spcAft>
                <a:spcPts val="600"/>
              </a:spcAft>
            </a:pPr>
            <a:r>
              <a:rPr sz="1250" b="0" i="0">
                <a:solidFill>
                  <a:srgbClr val="5A6459"/>
                </a:solidFill>
                <a:latin typeface="Consolas"/>
              </a:rPr>
              <a:t>10</a:t>
            </a:r>
          </a:p>
        </p:txBody>
      </p:sp>
      <p:sp>
        <p:nvSpPr>
          <p:cNvPr id="20" name="TextBox 19"/>
          <p:cNvSpPr txBox="1"/>
          <p:nvPr/>
        </p:nvSpPr>
        <p:spPr>
          <a:xfrm>
            <a:off x="8869680" y="3347720"/>
            <a:ext cx="2377440" cy="502920"/>
          </a:xfrm>
          <a:prstGeom prst="rect">
            <a:avLst/>
          </a:prstGeom>
          <a:noFill/>
        </p:spPr>
        <p:txBody>
          <a:bodyPr wrap="square">
            <a:spAutoFit/>
          </a:bodyPr>
          <a:lstStyle/>
          <a:p>
            <a:pPr algn="l">
              <a:spcAft>
                <a:spcPts val="600"/>
              </a:spcAft>
            </a:pPr>
            <a:r>
              <a:rPr sz="1150" b="1" i="0">
                <a:solidFill>
                  <a:srgbClr val="C6860A"/>
                </a:solidFill>
                <a:latin typeface="Consolas"/>
              </a:rPr>
              <a:t>Shared</a:t>
            </a:r>
          </a:p>
        </p:txBody>
      </p:sp>
      <p:sp>
        <p:nvSpPr>
          <p:cNvPr id="21" name="Rectangle 20"/>
          <p:cNvSpPr/>
          <p:nvPr/>
        </p:nvSpPr>
        <p:spPr>
          <a:xfrm>
            <a:off x="640080" y="3825240"/>
            <a:ext cx="10607040"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901440"/>
            <a:ext cx="6766560" cy="502920"/>
          </a:xfrm>
          <a:prstGeom prst="rect">
            <a:avLst/>
          </a:prstGeom>
          <a:noFill/>
        </p:spPr>
        <p:txBody>
          <a:bodyPr wrap="square">
            <a:spAutoFit/>
          </a:bodyPr>
          <a:lstStyle/>
          <a:p>
            <a:pPr algn="l">
              <a:spcAft>
                <a:spcPts val="600"/>
              </a:spcAft>
            </a:pPr>
            <a:r>
              <a:rPr sz="1250" b="0" i="0">
                <a:solidFill>
                  <a:srgbClr val="1B2420"/>
                </a:solidFill>
                <a:latin typeface="Verdana"/>
              </a:rPr>
              <a:t>Unit / integration tests</a:t>
            </a:r>
          </a:p>
        </p:txBody>
      </p:sp>
      <p:sp>
        <p:nvSpPr>
          <p:cNvPr id="23" name="TextBox 22"/>
          <p:cNvSpPr txBox="1"/>
          <p:nvPr/>
        </p:nvSpPr>
        <p:spPr>
          <a:xfrm>
            <a:off x="7406640" y="3901440"/>
            <a:ext cx="1463040" cy="502920"/>
          </a:xfrm>
          <a:prstGeom prst="rect">
            <a:avLst/>
          </a:prstGeom>
          <a:noFill/>
        </p:spPr>
        <p:txBody>
          <a:bodyPr wrap="square">
            <a:spAutoFit/>
          </a:bodyPr>
          <a:lstStyle/>
          <a:p>
            <a:pPr algn="l">
              <a:spcAft>
                <a:spcPts val="600"/>
              </a:spcAft>
            </a:pPr>
            <a:r>
              <a:rPr sz="1250" b="0" i="0">
                <a:solidFill>
                  <a:srgbClr val="5A6459"/>
                </a:solidFill>
                <a:latin typeface="Consolas"/>
              </a:rPr>
              <a:t>10</a:t>
            </a:r>
          </a:p>
        </p:txBody>
      </p:sp>
      <p:sp>
        <p:nvSpPr>
          <p:cNvPr id="24" name="TextBox 23"/>
          <p:cNvSpPr txBox="1"/>
          <p:nvPr/>
        </p:nvSpPr>
        <p:spPr>
          <a:xfrm>
            <a:off x="8869680" y="3901440"/>
            <a:ext cx="2377440" cy="502920"/>
          </a:xfrm>
          <a:prstGeom prst="rect">
            <a:avLst/>
          </a:prstGeom>
          <a:noFill/>
        </p:spPr>
        <p:txBody>
          <a:bodyPr wrap="square">
            <a:spAutoFit/>
          </a:bodyPr>
          <a:lstStyle/>
          <a:p>
            <a:pPr algn="l">
              <a:spcAft>
                <a:spcPts val="600"/>
              </a:spcAft>
            </a:pPr>
            <a:r>
              <a:rPr sz="1150" b="1" i="0">
                <a:solidFill>
                  <a:srgbClr val="C6860A"/>
                </a:solidFill>
                <a:latin typeface="Consolas"/>
              </a:rPr>
              <a:t>Shared</a:t>
            </a:r>
          </a:p>
        </p:txBody>
      </p:sp>
      <p:sp>
        <p:nvSpPr>
          <p:cNvPr id="25" name="Rectangle 24"/>
          <p:cNvSpPr/>
          <p:nvPr/>
        </p:nvSpPr>
        <p:spPr>
          <a:xfrm>
            <a:off x="640080" y="4378960"/>
            <a:ext cx="10607040"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455160"/>
            <a:ext cx="6766560" cy="502920"/>
          </a:xfrm>
          <a:prstGeom prst="rect">
            <a:avLst/>
          </a:prstGeom>
          <a:noFill/>
        </p:spPr>
        <p:txBody>
          <a:bodyPr wrap="square">
            <a:spAutoFit/>
          </a:bodyPr>
          <a:lstStyle/>
          <a:p>
            <a:pPr algn="l">
              <a:spcAft>
                <a:spcPts val="600"/>
              </a:spcAft>
            </a:pPr>
            <a:r>
              <a:rPr sz="1250" b="0" i="0">
                <a:solidFill>
                  <a:srgbClr val="1B2420"/>
                </a:solidFill>
                <a:latin typeface="Verdana"/>
              </a:rPr>
              <a:t>UML diagram &amp; technical report</a:t>
            </a:r>
          </a:p>
        </p:txBody>
      </p:sp>
      <p:sp>
        <p:nvSpPr>
          <p:cNvPr id="27" name="TextBox 26"/>
          <p:cNvSpPr txBox="1"/>
          <p:nvPr/>
        </p:nvSpPr>
        <p:spPr>
          <a:xfrm>
            <a:off x="7406640" y="4455160"/>
            <a:ext cx="1463040" cy="502920"/>
          </a:xfrm>
          <a:prstGeom prst="rect">
            <a:avLst/>
          </a:prstGeom>
          <a:noFill/>
        </p:spPr>
        <p:txBody>
          <a:bodyPr wrap="square">
            <a:spAutoFit/>
          </a:bodyPr>
          <a:lstStyle/>
          <a:p>
            <a:pPr algn="l">
              <a:spcAft>
                <a:spcPts val="600"/>
              </a:spcAft>
            </a:pPr>
            <a:r>
              <a:rPr sz="1250" b="0" i="0">
                <a:solidFill>
                  <a:srgbClr val="5A6459"/>
                </a:solidFill>
                <a:latin typeface="Consolas"/>
              </a:rPr>
              <a:t>10</a:t>
            </a:r>
          </a:p>
        </p:txBody>
      </p:sp>
      <p:sp>
        <p:nvSpPr>
          <p:cNvPr id="28" name="TextBox 27"/>
          <p:cNvSpPr txBox="1"/>
          <p:nvPr/>
        </p:nvSpPr>
        <p:spPr>
          <a:xfrm>
            <a:off x="8869680" y="4455160"/>
            <a:ext cx="2377440" cy="502920"/>
          </a:xfrm>
          <a:prstGeom prst="rect">
            <a:avLst/>
          </a:prstGeom>
          <a:noFill/>
        </p:spPr>
        <p:txBody>
          <a:bodyPr wrap="square">
            <a:spAutoFit/>
          </a:bodyPr>
          <a:lstStyle/>
          <a:p>
            <a:pPr algn="l">
              <a:spcAft>
                <a:spcPts val="600"/>
              </a:spcAft>
            </a:pPr>
            <a:r>
              <a:rPr sz="1150" b="1" i="0">
                <a:solidFill>
                  <a:srgbClr val="C6860A"/>
                </a:solidFill>
                <a:latin typeface="Consolas"/>
              </a:rPr>
              <a:t>Shared</a:t>
            </a:r>
          </a:p>
        </p:txBody>
      </p:sp>
      <p:sp>
        <p:nvSpPr>
          <p:cNvPr id="29" name="Rectangle 28"/>
          <p:cNvSpPr/>
          <p:nvPr/>
        </p:nvSpPr>
        <p:spPr>
          <a:xfrm>
            <a:off x="640080" y="4932680"/>
            <a:ext cx="10607040"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008880"/>
            <a:ext cx="6766560" cy="502920"/>
          </a:xfrm>
          <a:prstGeom prst="rect">
            <a:avLst/>
          </a:prstGeom>
          <a:noFill/>
        </p:spPr>
        <p:txBody>
          <a:bodyPr wrap="square">
            <a:spAutoFit/>
          </a:bodyPr>
          <a:lstStyle/>
          <a:p>
            <a:pPr algn="l">
              <a:spcAft>
                <a:spcPts val="600"/>
              </a:spcAft>
            </a:pPr>
            <a:r>
              <a:rPr sz="1250" b="0" i="0">
                <a:solidFill>
                  <a:srgbClr val="1B2420"/>
                </a:solidFill>
                <a:latin typeface="Verdana"/>
              </a:rPr>
              <a:t>Git history &amp; task-board evidence</a:t>
            </a:r>
          </a:p>
        </p:txBody>
      </p:sp>
      <p:sp>
        <p:nvSpPr>
          <p:cNvPr id="31" name="TextBox 30"/>
          <p:cNvSpPr txBox="1"/>
          <p:nvPr/>
        </p:nvSpPr>
        <p:spPr>
          <a:xfrm>
            <a:off x="7406640" y="5008880"/>
            <a:ext cx="1463040" cy="502920"/>
          </a:xfrm>
          <a:prstGeom prst="rect">
            <a:avLst/>
          </a:prstGeom>
          <a:noFill/>
        </p:spPr>
        <p:txBody>
          <a:bodyPr wrap="square">
            <a:spAutoFit/>
          </a:bodyPr>
          <a:lstStyle/>
          <a:p>
            <a:pPr algn="l">
              <a:spcAft>
                <a:spcPts val="600"/>
              </a:spcAft>
            </a:pPr>
            <a:r>
              <a:rPr sz="1250" b="0" i="0">
                <a:solidFill>
                  <a:srgbClr val="5A6459"/>
                </a:solidFill>
                <a:latin typeface="Consolas"/>
              </a:rPr>
              <a:t>10</a:t>
            </a:r>
          </a:p>
        </p:txBody>
      </p:sp>
      <p:sp>
        <p:nvSpPr>
          <p:cNvPr id="32" name="TextBox 31"/>
          <p:cNvSpPr txBox="1"/>
          <p:nvPr/>
        </p:nvSpPr>
        <p:spPr>
          <a:xfrm>
            <a:off x="8869680" y="5008880"/>
            <a:ext cx="2377440" cy="502920"/>
          </a:xfrm>
          <a:prstGeom prst="rect">
            <a:avLst/>
          </a:prstGeom>
          <a:noFill/>
        </p:spPr>
        <p:txBody>
          <a:bodyPr wrap="square">
            <a:spAutoFit/>
          </a:bodyPr>
          <a:lstStyle/>
          <a:p>
            <a:pPr algn="l">
              <a:spcAft>
                <a:spcPts val="600"/>
              </a:spcAft>
            </a:pPr>
            <a:r>
              <a:rPr sz="1150" b="1" i="0">
                <a:solidFill>
                  <a:srgbClr val="C6860A"/>
                </a:solidFill>
                <a:latin typeface="Consolas"/>
              </a:rPr>
              <a:t>Shared</a:t>
            </a:r>
          </a:p>
        </p:txBody>
      </p:sp>
      <p:sp>
        <p:nvSpPr>
          <p:cNvPr id="33" name="Rectangle 32"/>
          <p:cNvSpPr/>
          <p:nvPr/>
        </p:nvSpPr>
        <p:spPr>
          <a:xfrm>
            <a:off x="640080" y="5486400"/>
            <a:ext cx="10607040"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62600"/>
            <a:ext cx="6766560" cy="502920"/>
          </a:xfrm>
          <a:prstGeom prst="rect">
            <a:avLst/>
          </a:prstGeom>
          <a:noFill/>
        </p:spPr>
        <p:txBody>
          <a:bodyPr wrap="square">
            <a:spAutoFit/>
          </a:bodyPr>
          <a:lstStyle/>
          <a:p>
            <a:pPr algn="l">
              <a:spcAft>
                <a:spcPts val="600"/>
              </a:spcAft>
            </a:pPr>
            <a:r>
              <a:rPr sz="1250" b="0" i="0">
                <a:solidFill>
                  <a:srgbClr val="1B2420"/>
                </a:solidFill>
                <a:latin typeface="Verdana"/>
              </a:rPr>
              <a:t>Oral presentation &amp; individual Q&amp;A</a:t>
            </a:r>
          </a:p>
        </p:txBody>
      </p:sp>
      <p:sp>
        <p:nvSpPr>
          <p:cNvPr id="35" name="TextBox 34"/>
          <p:cNvSpPr txBox="1"/>
          <p:nvPr/>
        </p:nvSpPr>
        <p:spPr>
          <a:xfrm>
            <a:off x="7406640" y="5562600"/>
            <a:ext cx="1463040" cy="502920"/>
          </a:xfrm>
          <a:prstGeom prst="rect">
            <a:avLst/>
          </a:prstGeom>
          <a:noFill/>
        </p:spPr>
        <p:txBody>
          <a:bodyPr wrap="square">
            <a:spAutoFit/>
          </a:bodyPr>
          <a:lstStyle/>
          <a:p>
            <a:pPr algn="l">
              <a:spcAft>
                <a:spcPts val="600"/>
              </a:spcAft>
            </a:pPr>
            <a:r>
              <a:rPr sz="1250" b="0" i="0">
                <a:solidFill>
                  <a:srgbClr val="5A6459"/>
                </a:solidFill>
                <a:latin typeface="Consolas"/>
              </a:rPr>
              <a:t>10</a:t>
            </a:r>
          </a:p>
        </p:txBody>
      </p:sp>
      <p:sp>
        <p:nvSpPr>
          <p:cNvPr id="36" name="TextBox 35"/>
          <p:cNvSpPr txBox="1"/>
          <p:nvPr/>
        </p:nvSpPr>
        <p:spPr>
          <a:xfrm>
            <a:off x="8869680" y="5562600"/>
            <a:ext cx="2377440" cy="502920"/>
          </a:xfrm>
          <a:prstGeom prst="rect">
            <a:avLst/>
          </a:prstGeom>
          <a:noFill/>
        </p:spPr>
        <p:txBody>
          <a:bodyPr wrap="square">
            <a:spAutoFit/>
          </a:bodyPr>
          <a:lstStyle/>
          <a:p>
            <a:pPr algn="l">
              <a:spcAft>
                <a:spcPts val="600"/>
              </a:spcAft>
            </a:pPr>
            <a:r>
              <a:rPr sz="1150" b="1" i="0">
                <a:solidFill>
                  <a:srgbClr val="C6860A"/>
                </a:solidFill>
                <a:latin typeface="Consolas"/>
              </a:rPr>
              <a:t>Individual</a:t>
            </a:r>
          </a:p>
        </p:txBody>
      </p:sp>
      <p:sp>
        <p:nvSpPr>
          <p:cNvPr id="37" name="Rectangle 36"/>
          <p:cNvSpPr/>
          <p:nvPr/>
        </p:nvSpPr>
        <p:spPr>
          <a:xfrm>
            <a:off x="640080" y="6040120"/>
            <a:ext cx="10607040"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1EA"/>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100" b="1" i="0">
                <a:solidFill>
                  <a:srgbClr val="C6860A"/>
                </a:solidFill>
                <a:latin typeface="Consolas"/>
              </a:rPr>
              <a:t>●  </a:t>
            </a:r>
            <a:r>
              <a:rPr sz="1050" b="0" i="0" spc="120">
                <a:solidFill>
                  <a:srgbClr val="8A9187"/>
                </a:solidFill>
                <a:latin typeface="Consolas"/>
              </a:rPr>
              <a:t>09 · LIVE DEMO</a:t>
            </a:r>
          </a:p>
        </p:txBody>
      </p:sp>
      <p:sp>
        <p:nvSpPr>
          <p:cNvPr id="3" name="TextBox 2"/>
          <p:cNvSpPr txBox="1"/>
          <p:nvPr/>
        </p:nvSpPr>
        <p:spPr>
          <a:xfrm>
            <a:off x="10241280" y="320040"/>
            <a:ext cx="1280160" cy="365760"/>
          </a:xfrm>
          <a:prstGeom prst="rect">
            <a:avLst/>
          </a:prstGeom>
          <a:noFill/>
        </p:spPr>
        <p:txBody>
          <a:bodyPr wrap="square">
            <a:spAutoFit/>
          </a:bodyPr>
          <a:lstStyle/>
          <a:p>
            <a:pPr algn="r">
              <a:spcAft>
                <a:spcPts val="600"/>
              </a:spcAft>
            </a:pPr>
            <a:r>
              <a:rPr sz="1050" b="0" i="0" spc="80">
                <a:solidFill>
                  <a:srgbClr val="8A9187"/>
                </a:solidFill>
                <a:latin typeface="Consolas"/>
              </a:rPr>
              <a:t>12 / 12</a:t>
            </a:r>
          </a:p>
        </p:txBody>
      </p:sp>
      <p:sp>
        <p:nvSpPr>
          <p:cNvPr id="4" name="Rectangle 3"/>
          <p:cNvSpPr/>
          <p:nvPr/>
        </p:nvSpPr>
        <p:spPr>
          <a:xfrm>
            <a:off x="640080" y="713232"/>
            <a:ext cx="10908792" cy="9525"/>
          </a:xfrm>
          <a:prstGeom prst="rect">
            <a:avLst/>
          </a:prstGeom>
          <a:solidFill>
            <a:srgbClr val="D3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9601200" cy="1005840"/>
          </a:xfrm>
          <a:prstGeom prst="rect">
            <a:avLst/>
          </a:prstGeom>
          <a:noFill/>
        </p:spPr>
        <p:txBody>
          <a:bodyPr wrap="square">
            <a:spAutoFit/>
          </a:bodyPr>
          <a:lstStyle/>
          <a:p>
            <a:pPr algn="l">
              <a:lnSpc>
                <a:spcPct val="105000"/>
              </a:lnSpc>
              <a:spcAft>
                <a:spcPts val="600"/>
              </a:spcAft>
            </a:pPr>
            <a:r>
              <a:rPr sz="3000" b="1" i="0">
                <a:solidFill>
                  <a:srgbClr val="1B2420"/>
                </a:solidFill>
                <a:latin typeface="Georgia"/>
              </a:rPr>
              <a:t>Run it, break it, ask us anything</a:t>
            </a:r>
          </a:p>
        </p:txBody>
      </p:sp>
      <p:sp>
        <p:nvSpPr>
          <p:cNvPr id="6" name="Rounded Rectangle 5"/>
          <p:cNvSpPr/>
          <p:nvPr/>
        </p:nvSpPr>
        <p:spPr>
          <a:xfrm>
            <a:off x="640080" y="1828800"/>
            <a:ext cx="8686800" cy="1051560"/>
          </a:xfrm>
          <a:prstGeom prst="roundRect">
            <a:avLst>
              <a:gd name="adj" fmla="val 6000"/>
            </a:avLst>
          </a:prstGeom>
          <a:solidFill>
            <a:srgbClr val="1B2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8229600" cy="777240"/>
          </a:xfrm>
          <a:prstGeom prst="rect">
            <a:avLst/>
          </a:prstGeom>
          <a:noFill/>
        </p:spPr>
        <p:txBody>
          <a:bodyPr wrap="square">
            <a:spAutoFit/>
          </a:bodyPr>
          <a:lstStyle/>
          <a:p>
            <a:pPr>
              <a:spcAft>
                <a:spcPts val="600"/>
              </a:spcAft>
            </a:pPr>
            <a:r>
              <a:rPr sz="1200" b="0" i="0">
                <a:solidFill>
                  <a:srgbClr val="8A9187"/>
                </a:solidFill>
                <a:latin typeface="Consolas"/>
              </a:rPr>
              <a:t>$ </a:t>
            </a:r>
            <a:r>
              <a:rPr sz="1200" b="0" i="0">
                <a:solidFill>
                  <a:srgbClr val="EEF1EA"/>
                </a:solidFill>
                <a:latin typeface="Consolas"/>
              </a:rPr>
              <a:t>python3 main.py</a:t>
            </a:r>
          </a:p>
          <a:p>
            <a:r>
              <a:rPr sz="1200" b="0" i="0">
                <a:solidFill>
                  <a:srgbClr val="8A9187"/>
                </a:solidFill>
                <a:latin typeface="Consolas"/>
              </a:rPr>
              <a:t>$ </a:t>
            </a:r>
            <a:r>
              <a:rPr sz="1200" b="0" i="0">
                <a:solidFill>
                  <a:srgbClr val="EEF1EA"/>
                </a:solidFill>
                <a:latin typeface="Consolas"/>
              </a:rPr>
              <a:t>python3 -m unittest discover -s tests -t . -v</a:t>
            </a:r>
          </a:p>
        </p:txBody>
      </p:sp>
      <p:sp>
        <p:nvSpPr>
          <p:cNvPr id="8" name="Rounded Rectangle 7"/>
          <p:cNvSpPr/>
          <p:nvPr/>
        </p:nvSpPr>
        <p:spPr>
          <a:xfrm>
            <a:off x="640080" y="3291840"/>
            <a:ext cx="3291840" cy="1051560"/>
          </a:xfrm>
          <a:prstGeom prst="roundRect">
            <a:avLst>
              <a:gd name="adj" fmla="val 6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41248" y="3474720"/>
            <a:ext cx="128016" cy="128016"/>
          </a:xfrm>
          <a:prstGeom prst="ellipse">
            <a:avLst/>
          </a:prstGeom>
          <a:solidFill>
            <a:srgbClr val="2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3703320"/>
            <a:ext cx="2889504" cy="594360"/>
          </a:xfrm>
          <a:prstGeom prst="rect">
            <a:avLst/>
          </a:prstGeom>
          <a:noFill/>
        </p:spPr>
        <p:txBody>
          <a:bodyPr wrap="square">
            <a:spAutoFit/>
          </a:bodyPr>
          <a:lstStyle/>
          <a:p>
            <a:pPr algn="l">
              <a:spcAft>
                <a:spcPts val="600"/>
              </a:spcAft>
            </a:pPr>
            <a:r>
              <a:rPr sz="1700" b="1" i="0">
                <a:solidFill>
                  <a:srgbClr val="1B2420"/>
                </a:solidFill>
                <a:latin typeface="Georgia"/>
              </a:rPr>
              <a:t>Parth</a:t>
            </a:r>
          </a:p>
          <a:p>
            <a:pPr algn="l">
              <a:spcAft>
                <a:spcPts val="600"/>
              </a:spcAft>
            </a:pPr>
            <a:r>
              <a:rPr sz="1050" b="0" i="0">
                <a:solidFill>
                  <a:srgbClr val="5A6459"/>
                </a:solidFill>
                <a:latin typeface="Verdana"/>
              </a:rPr>
              <a:t>Catalogue &amp; Products</a:t>
            </a:r>
          </a:p>
        </p:txBody>
      </p:sp>
      <p:sp>
        <p:nvSpPr>
          <p:cNvPr id="11" name="Rounded Rectangle 10"/>
          <p:cNvSpPr/>
          <p:nvPr/>
        </p:nvSpPr>
        <p:spPr>
          <a:xfrm>
            <a:off x="4114800" y="3291840"/>
            <a:ext cx="3291840" cy="1051560"/>
          </a:xfrm>
          <a:prstGeom prst="roundRect">
            <a:avLst>
              <a:gd name="adj" fmla="val 6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15968" y="3474720"/>
            <a:ext cx="128016" cy="128016"/>
          </a:xfrm>
          <a:prstGeom prst="ellipse">
            <a:avLst/>
          </a:prstGeom>
          <a:solidFill>
            <a:srgbClr val="AD57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15968" y="3703320"/>
            <a:ext cx="2889504" cy="594360"/>
          </a:xfrm>
          <a:prstGeom prst="rect">
            <a:avLst/>
          </a:prstGeom>
          <a:noFill/>
        </p:spPr>
        <p:txBody>
          <a:bodyPr wrap="square">
            <a:spAutoFit/>
          </a:bodyPr>
          <a:lstStyle/>
          <a:p>
            <a:pPr algn="l">
              <a:spcAft>
                <a:spcPts val="600"/>
              </a:spcAft>
            </a:pPr>
            <a:r>
              <a:rPr sz="1700" b="1" i="0">
                <a:solidFill>
                  <a:srgbClr val="1B2420"/>
                </a:solidFill>
                <a:latin typeface="Georgia"/>
              </a:rPr>
              <a:t>Dhruv</a:t>
            </a:r>
          </a:p>
          <a:p>
            <a:pPr algn="l">
              <a:spcAft>
                <a:spcPts val="600"/>
              </a:spcAft>
            </a:pPr>
            <a:r>
              <a:rPr sz="1050" b="0" i="0">
                <a:solidFill>
                  <a:srgbClr val="5A6459"/>
                </a:solidFill>
                <a:latin typeface="Verdana"/>
              </a:rPr>
              <a:t>Cart &amp; Discounts</a:t>
            </a:r>
          </a:p>
        </p:txBody>
      </p:sp>
      <p:sp>
        <p:nvSpPr>
          <p:cNvPr id="14" name="Rounded Rectangle 13"/>
          <p:cNvSpPr/>
          <p:nvPr/>
        </p:nvSpPr>
        <p:spPr>
          <a:xfrm>
            <a:off x="7589520" y="3291840"/>
            <a:ext cx="3291840" cy="1051560"/>
          </a:xfrm>
          <a:prstGeom prst="roundRect">
            <a:avLst>
              <a:gd name="adj" fmla="val 6000"/>
            </a:avLst>
          </a:prstGeom>
          <a:solidFill>
            <a:srgbClr val="FFFFFF"/>
          </a:solidFill>
          <a:ln w="9525">
            <a:solidFill>
              <a:srgbClr val="D3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90688" y="3474720"/>
            <a:ext cx="128016" cy="128016"/>
          </a:xfrm>
          <a:prstGeom prst="ellipse">
            <a:avLst/>
          </a:prstGeom>
          <a:solidFill>
            <a:srgbClr val="C68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90688" y="3703320"/>
            <a:ext cx="2889504" cy="594360"/>
          </a:xfrm>
          <a:prstGeom prst="rect">
            <a:avLst/>
          </a:prstGeom>
          <a:noFill/>
        </p:spPr>
        <p:txBody>
          <a:bodyPr wrap="square">
            <a:spAutoFit/>
          </a:bodyPr>
          <a:lstStyle/>
          <a:p>
            <a:pPr algn="l">
              <a:spcAft>
                <a:spcPts val="600"/>
              </a:spcAft>
            </a:pPr>
            <a:r>
              <a:rPr sz="1700" b="1" i="0">
                <a:solidFill>
                  <a:srgbClr val="1B2420"/>
                </a:solidFill>
                <a:latin typeface="Georgia"/>
              </a:rPr>
              <a:t>Sahil</a:t>
            </a:r>
          </a:p>
          <a:p>
            <a:pPr algn="l">
              <a:spcAft>
                <a:spcPts val="600"/>
              </a:spcAft>
            </a:pPr>
            <a:r>
              <a:rPr sz="1050" b="0" i="0">
                <a:solidFill>
                  <a:srgbClr val="5A6459"/>
                </a:solidFill>
                <a:latin typeface="Verdana"/>
              </a:rPr>
              <a:t>Shipping, Orders &amp; Integration</a:t>
            </a:r>
          </a:p>
        </p:txBody>
      </p:sp>
      <p:sp>
        <p:nvSpPr>
          <p:cNvPr id="17" name="TextBox 16"/>
          <p:cNvSpPr txBox="1"/>
          <p:nvPr/>
        </p:nvSpPr>
        <p:spPr>
          <a:xfrm>
            <a:off x="640080" y="6309360"/>
            <a:ext cx="10058400" cy="365760"/>
          </a:xfrm>
          <a:prstGeom prst="rect">
            <a:avLst/>
          </a:prstGeom>
          <a:noFill/>
        </p:spPr>
        <p:txBody>
          <a:bodyPr wrap="square">
            <a:spAutoFit/>
          </a:bodyPr>
          <a:lstStyle/>
          <a:p>
            <a:pPr algn="ctr">
              <a:spcAft>
                <a:spcPts val="600"/>
              </a:spcAft>
            </a:pPr>
            <a:r>
              <a:rPr sz="900" b="0" i="0" spc="100">
                <a:solidFill>
                  <a:srgbClr val="8A9187"/>
                </a:solidFill>
                <a:latin typeface="Consolas"/>
              </a:rPr>
              <a:t>E-COMMERCE INVENTORY &amp; ORDER PROCESSING ENGINE — ITE 5231 PROJECT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